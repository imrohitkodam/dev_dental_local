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256" r:id="rId2"/>
    <p:sldId id="257" r:id="rId3"/>
    <p:sldId id="258" r:id="rId4"/>
    <p:sldId id="259" r:id="rId5"/>
    <p:sldId id="400" r:id="rId6"/>
    <p:sldId id="267" r:id="rId7"/>
    <p:sldId id="268" r:id="rId8"/>
    <p:sldId id="277" r:id="rId9"/>
    <p:sldId id="288" r:id="rId10"/>
    <p:sldId id="291" r:id="rId11"/>
    <p:sldId id="293" r:id="rId12"/>
    <p:sldId id="308" r:id="rId13"/>
    <p:sldId id="317" r:id="rId14"/>
    <p:sldId id="318" r:id="rId15"/>
    <p:sldId id="324" r:id="rId16"/>
    <p:sldId id="401" r:id="rId17"/>
    <p:sldId id="332" r:id="rId18"/>
    <p:sldId id="337" r:id="rId19"/>
    <p:sldId id="339" r:id="rId20"/>
    <p:sldId id="340" r:id="rId21"/>
    <p:sldId id="344" r:id="rId22"/>
    <p:sldId id="345" r:id="rId23"/>
    <p:sldId id="346" r:id="rId24"/>
    <p:sldId id="347" r:id="rId25"/>
    <p:sldId id="348" r:id="rId26"/>
    <p:sldId id="349" r:id="rId27"/>
    <p:sldId id="350" r:id="rId28"/>
    <p:sldId id="351" r:id="rId29"/>
    <p:sldId id="352" r:id="rId30"/>
    <p:sldId id="353" r:id="rId31"/>
    <p:sldId id="354" r:id="rId32"/>
    <p:sldId id="402" r:id="rId33"/>
    <p:sldId id="355" r:id="rId34"/>
    <p:sldId id="356" r:id="rId35"/>
    <p:sldId id="362" r:id="rId36"/>
    <p:sldId id="363" r:id="rId37"/>
    <p:sldId id="370" r:id="rId38"/>
    <p:sldId id="371" r:id="rId39"/>
    <p:sldId id="372" r:id="rId40"/>
    <p:sldId id="373" r:id="rId41"/>
    <p:sldId id="374" r:id="rId42"/>
    <p:sldId id="378" r:id="rId43"/>
    <p:sldId id="379" r:id="rId44"/>
    <p:sldId id="380" r:id="rId45"/>
    <p:sldId id="381" r:id="rId46"/>
    <p:sldId id="382" r:id="rId47"/>
    <p:sldId id="391" r:id="rId48"/>
    <p:sldId id="392" r:id="rId49"/>
    <p:sldId id="393" r:id="rId50"/>
    <p:sldId id="394" r:id="rId51"/>
    <p:sldId id="395" r:id="rId52"/>
    <p:sldId id="396" r:id="rId53"/>
    <p:sldId id="397" r:id="rId54"/>
    <p:sldId id="398" r:id="rId55"/>
    <p:sldId id="399"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6" autoAdjust="0"/>
    <p:restoredTop sz="56995" autoAdjust="0"/>
  </p:normalViewPr>
  <p:slideViewPr>
    <p:cSldViewPr snapToGrid="0">
      <p:cViewPr varScale="1">
        <p:scale>
          <a:sx n="41" d="100"/>
          <a:sy n="41" d="100"/>
        </p:scale>
        <p:origin x="1804" y="3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FB695E-FC3B-4FE4-9847-3DC257A19E29}" type="datetimeFigureOut">
              <a:rPr lang="en-GB" smtClean="0"/>
              <a:t>15/03/2019</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3C2251-600B-4BDC-820B-15EB4DE9420F}" type="slidenum">
              <a:rPr lang="en-GB" smtClean="0"/>
              <a:t>‹#›</a:t>
            </a:fld>
            <a:endParaRPr lang="en-GB"/>
          </a:p>
        </p:txBody>
      </p:sp>
    </p:spTree>
    <p:extLst>
      <p:ext uri="{BB962C8B-B14F-4D97-AF65-F5344CB8AC3E}">
        <p14:creationId xmlns:p14="http://schemas.microsoft.com/office/powerpoint/2010/main" val="1629459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Welcome the audience</a:t>
            </a:r>
          </a:p>
          <a:p>
            <a:endParaRPr lang="en-GB" dirty="0"/>
          </a:p>
        </p:txBody>
      </p:sp>
      <p:sp>
        <p:nvSpPr>
          <p:cNvPr id="4" name="Slide Number Placeholder 3"/>
          <p:cNvSpPr>
            <a:spLocks noGrp="1"/>
          </p:cNvSpPr>
          <p:nvPr>
            <p:ph type="sldNum" sz="quarter" idx="5"/>
          </p:nvPr>
        </p:nvSpPr>
        <p:spPr/>
        <p:txBody>
          <a:bodyPr/>
          <a:lstStyle/>
          <a:p>
            <a:fld id="{EA3C2251-600B-4BDC-820B-15EB4DE9420F}" type="slidenum">
              <a:rPr lang="en-GB" smtClean="0"/>
              <a:t>2</a:t>
            </a:fld>
            <a:endParaRPr lang="en-GB"/>
          </a:p>
        </p:txBody>
      </p:sp>
    </p:spTree>
    <p:extLst>
      <p:ext uri="{BB962C8B-B14F-4D97-AF65-F5344CB8AC3E}">
        <p14:creationId xmlns:p14="http://schemas.microsoft.com/office/powerpoint/2010/main" val="4163762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According to the latest survey by Dental Protection, 89% of dentists are increasingly fearful of being sued. And in response Raj Rattan, Dental Director at Dental Protection has said “without proper consent and comprehensive, well organised records a dentist will be severely disadvantaged in defending any allegations that may surface at a later date.</a:t>
            </a:r>
          </a:p>
          <a:p>
            <a:r>
              <a:rPr lang="en-GB" sz="1200" kern="1200" dirty="0">
                <a:solidFill>
                  <a:schemeClr val="tx1"/>
                </a:solidFill>
                <a:effectLst/>
                <a:latin typeface="+mn-lt"/>
                <a:ea typeface="+mn-ea"/>
                <a:cs typeface="+mn-cs"/>
              </a:rPr>
              <a:t>What does this mean? Well whomever we are and where ever we work, record keeping affects us all</a:t>
            </a:r>
          </a:p>
          <a:p>
            <a:r>
              <a:rPr lang="en-GB" sz="1200" kern="1200" dirty="0">
                <a:solidFill>
                  <a:schemeClr val="tx1"/>
                </a:solidFill>
                <a:effectLst/>
                <a:latin typeface="+mn-lt"/>
                <a:ea typeface="+mn-ea"/>
                <a:cs typeface="+mn-cs"/>
              </a:rPr>
              <a:t>My name is Greg Pierre and I am the co-founder of </a:t>
            </a:r>
            <a:r>
              <a:rPr lang="en-GB" sz="1200" kern="1200" dirty="0" err="1">
                <a:solidFill>
                  <a:schemeClr val="tx1"/>
                </a:solidFill>
                <a:effectLst/>
                <a:latin typeface="+mn-lt"/>
                <a:ea typeface="+mn-ea"/>
                <a:cs typeface="+mn-cs"/>
              </a:rPr>
              <a:t>Surell</a:t>
            </a:r>
            <a:r>
              <a:rPr lang="en-GB" sz="1200" kern="1200" dirty="0">
                <a:solidFill>
                  <a:schemeClr val="tx1"/>
                </a:solidFill>
                <a:effectLst/>
                <a:latin typeface="+mn-lt"/>
                <a:ea typeface="+mn-ea"/>
                <a:cs typeface="+mn-cs"/>
              </a:rPr>
              <a:t> solutions and we help improve dentists write better notes through the use of tailored software. Today I want to give you a presentation on record keeping.</a:t>
            </a:r>
          </a:p>
          <a:p>
            <a:endParaRPr lang="en-GB" dirty="0"/>
          </a:p>
        </p:txBody>
      </p:sp>
      <p:sp>
        <p:nvSpPr>
          <p:cNvPr id="4" name="Slide Number Placeholder 3"/>
          <p:cNvSpPr>
            <a:spLocks noGrp="1"/>
          </p:cNvSpPr>
          <p:nvPr>
            <p:ph type="sldNum" sz="quarter" idx="5"/>
          </p:nvPr>
        </p:nvSpPr>
        <p:spPr/>
        <p:txBody>
          <a:bodyPr/>
          <a:lstStyle/>
          <a:p>
            <a:fld id="{EA3C2251-600B-4BDC-820B-15EB4DE9420F}" type="slidenum">
              <a:rPr lang="en-GB" smtClean="0"/>
              <a:t>3</a:t>
            </a:fld>
            <a:endParaRPr lang="en-GB"/>
          </a:p>
        </p:txBody>
      </p:sp>
    </p:spTree>
    <p:extLst>
      <p:ext uri="{BB962C8B-B14F-4D97-AF65-F5344CB8AC3E}">
        <p14:creationId xmlns:p14="http://schemas.microsoft.com/office/powerpoint/2010/main" val="2976896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The way that I would like to set this up is to have the presentation first with Q+A after, so please keep all questions to the end</a:t>
            </a:r>
          </a:p>
          <a:p>
            <a:endParaRPr lang="en-GB" dirty="0"/>
          </a:p>
        </p:txBody>
      </p:sp>
      <p:sp>
        <p:nvSpPr>
          <p:cNvPr id="4" name="Slide Number Placeholder 3"/>
          <p:cNvSpPr>
            <a:spLocks noGrp="1"/>
          </p:cNvSpPr>
          <p:nvPr>
            <p:ph type="sldNum" sz="quarter" idx="5"/>
          </p:nvPr>
        </p:nvSpPr>
        <p:spPr/>
        <p:txBody>
          <a:bodyPr/>
          <a:lstStyle/>
          <a:p>
            <a:fld id="{EA3C2251-600B-4BDC-820B-15EB4DE9420F}" type="slidenum">
              <a:rPr lang="en-GB" smtClean="0"/>
              <a:t>4</a:t>
            </a:fld>
            <a:endParaRPr lang="en-GB"/>
          </a:p>
        </p:txBody>
      </p:sp>
    </p:spTree>
    <p:extLst>
      <p:ext uri="{BB962C8B-B14F-4D97-AF65-F5344CB8AC3E}">
        <p14:creationId xmlns:p14="http://schemas.microsoft.com/office/powerpoint/2010/main" val="14699035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i="1" kern="1200" dirty="0">
                <a:solidFill>
                  <a:schemeClr val="tx1"/>
                </a:solidFill>
                <a:effectLst/>
                <a:latin typeface="+mn-lt"/>
                <a:ea typeface="+mn-ea"/>
                <a:cs typeface="+mn-cs"/>
              </a:rPr>
              <a:t>You might want to also ask how the participants considers his/her record keeping</a:t>
            </a:r>
          </a:p>
        </p:txBody>
      </p:sp>
      <p:sp>
        <p:nvSpPr>
          <p:cNvPr id="4" name="Slide Number Placeholder 3"/>
          <p:cNvSpPr>
            <a:spLocks noGrp="1"/>
          </p:cNvSpPr>
          <p:nvPr>
            <p:ph type="sldNum" sz="quarter" idx="5"/>
          </p:nvPr>
        </p:nvSpPr>
        <p:spPr/>
        <p:txBody>
          <a:bodyPr/>
          <a:lstStyle/>
          <a:p>
            <a:fld id="{EA3C2251-600B-4BDC-820B-15EB4DE9420F}" type="slidenum">
              <a:rPr lang="en-GB" smtClean="0"/>
              <a:t>5</a:t>
            </a:fld>
            <a:endParaRPr lang="en-GB"/>
          </a:p>
        </p:txBody>
      </p:sp>
    </p:spTree>
    <p:extLst>
      <p:ext uri="{BB962C8B-B14F-4D97-AF65-F5344CB8AC3E}">
        <p14:creationId xmlns:p14="http://schemas.microsoft.com/office/powerpoint/2010/main" val="6452393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i="1" dirty="0"/>
              <a:t>Students are taught to check the PMH at each appointment to ensure nothing has changed.</a:t>
            </a:r>
            <a:r>
              <a:rPr lang="en-GB" dirty="0"/>
              <a:t> </a:t>
            </a:r>
          </a:p>
        </p:txBody>
      </p:sp>
      <p:sp>
        <p:nvSpPr>
          <p:cNvPr id="4" name="Slide Number Placeholder 3"/>
          <p:cNvSpPr>
            <a:spLocks noGrp="1"/>
          </p:cNvSpPr>
          <p:nvPr>
            <p:ph type="sldNum" sz="quarter" idx="5"/>
          </p:nvPr>
        </p:nvSpPr>
        <p:spPr/>
        <p:txBody>
          <a:bodyPr/>
          <a:lstStyle/>
          <a:p>
            <a:fld id="{EA3C2251-600B-4BDC-820B-15EB4DE9420F}" type="slidenum">
              <a:rPr lang="en-GB" smtClean="0"/>
              <a:t>17</a:t>
            </a:fld>
            <a:endParaRPr lang="en-GB"/>
          </a:p>
        </p:txBody>
      </p:sp>
    </p:spTree>
    <p:extLst>
      <p:ext uri="{BB962C8B-B14F-4D97-AF65-F5344CB8AC3E}">
        <p14:creationId xmlns:p14="http://schemas.microsoft.com/office/powerpoint/2010/main" val="20672980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PLEASE SEE ATTACHMENT FOR A SOFTWARE COMPARISON FROM THE POINT OF VIEW OF RECORD KEEPING</a:t>
            </a:r>
          </a:p>
          <a:p>
            <a:r>
              <a:rPr lang="en-GB" sz="1200" kern="1200" dirty="0">
                <a:solidFill>
                  <a:schemeClr val="tx1"/>
                </a:solidFill>
                <a:effectLst/>
                <a:latin typeface="+mn-lt"/>
                <a:ea typeface="+mn-ea"/>
                <a:cs typeface="+mn-cs"/>
              </a:rPr>
              <a:t>For this portion of the talk we will be focusing upon:</a:t>
            </a:r>
          </a:p>
          <a:p>
            <a:r>
              <a:rPr lang="en-GB" sz="1200" kern="1200" dirty="0">
                <a:solidFill>
                  <a:schemeClr val="tx1"/>
                </a:solidFill>
                <a:effectLst/>
                <a:latin typeface="+mn-lt"/>
                <a:ea typeface="+mn-ea"/>
                <a:cs typeface="+mn-cs"/>
              </a:rPr>
              <a:t>1. The speed of constructing dental records (patient notes)</a:t>
            </a:r>
          </a:p>
          <a:p>
            <a:r>
              <a:rPr lang="en-GB" sz="1200" kern="1200" dirty="0">
                <a:solidFill>
                  <a:schemeClr val="tx1"/>
                </a:solidFill>
                <a:effectLst/>
                <a:latin typeface="+mn-lt"/>
                <a:ea typeface="+mn-ea"/>
                <a:cs typeface="+mn-cs"/>
              </a:rPr>
              <a:t>C4D - templates which are easily customisable - although I question the detail placed in the templates originally. This is designed for the assistant to complete the templates whilst the dentist carries out the examination/treatment.</a:t>
            </a:r>
          </a:p>
          <a:p>
            <a:r>
              <a:rPr lang="en-GB" sz="1200" kern="1200" dirty="0">
                <a:solidFill>
                  <a:schemeClr val="tx1"/>
                </a:solidFill>
                <a:effectLst/>
                <a:latin typeface="+mn-lt"/>
                <a:ea typeface="+mn-ea"/>
                <a:cs typeface="+mn-cs"/>
              </a:rPr>
              <a:t>The user can use one long template or several smaller templates.</a:t>
            </a:r>
          </a:p>
          <a:p>
            <a:r>
              <a:rPr lang="en-GB" sz="1200" kern="1200" dirty="0">
                <a:solidFill>
                  <a:schemeClr val="tx1"/>
                </a:solidFill>
                <a:effectLst/>
                <a:latin typeface="+mn-lt"/>
                <a:ea typeface="+mn-ea"/>
                <a:cs typeface="+mn-cs"/>
              </a:rPr>
              <a:t>https://youtu.be/pOLeKvxBjho</a:t>
            </a:r>
          </a:p>
          <a:p>
            <a:r>
              <a:rPr lang="en-GB" sz="1200" kern="1200" dirty="0">
                <a:solidFill>
                  <a:schemeClr val="tx1"/>
                </a:solidFill>
                <a:effectLst/>
                <a:latin typeface="+mn-lt"/>
                <a:ea typeface="+mn-ea"/>
                <a:cs typeface="+mn-cs"/>
              </a:rPr>
              <a:t>DENTALLY- these guys offer a new range of treatment templates that is once again focussed on improving the dentists efficiency when dealing with complex and extensive treatment plans </a:t>
            </a:r>
          </a:p>
          <a:p>
            <a:r>
              <a:rPr lang="en-GB" sz="1200" kern="1200" dirty="0">
                <a:solidFill>
                  <a:schemeClr val="tx1"/>
                </a:solidFill>
                <a:effectLst/>
                <a:latin typeface="+mn-lt"/>
                <a:ea typeface="+mn-ea"/>
                <a:cs typeface="+mn-cs"/>
              </a:rPr>
              <a:t>SOE: simplest way is to have free text. Next is a pre- determined portfolio or templates. All notes that are charged through are stored for the purposes of data protection. Anything written in clinical notes will not be printed on an invoice etc.</a:t>
            </a:r>
          </a:p>
          <a:p>
            <a:r>
              <a:rPr lang="en-GB" sz="1200" kern="1200" dirty="0">
                <a:solidFill>
                  <a:schemeClr val="tx1"/>
                </a:solidFill>
                <a:effectLst/>
                <a:latin typeface="+mn-lt"/>
                <a:ea typeface="+mn-ea"/>
                <a:cs typeface="+mn-cs"/>
              </a:rPr>
              <a:t>Carestream R4: Templates- from Carestream or bespoke </a:t>
            </a:r>
          </a:p>
          <a:p>
            <a:r>
              <a:rPr lang="en-GB" sz="1200" kern="1200" dirty="0">
                <a:solidFill>
                  <a:schemeClr val="tx1"/>
                </a:solidFill>
                <a:effectLst/>
                <a:latin typeface="+mn-lt"/>
                <a:ea typeface="+mn-ea"/>
                <a:cs typeface="+mn-cs"/>
              </a:rPr>
              <a:t>Codes to highlight specific treatment </a:t>
            </a:r>
          </a:p>
          <a:p>
            <a:r>
              <a:rPr lang="en-GB" sz="1200" kern="1200" dirty="0">
                <a:solidFill>
                  <a:schemeClr val="tx1"/>
                </a:solidFill>
                <a:effectLst/>
                <a:latin typeface="+mn-lt"/>
                <a:ea typeface="+mn-ea"/>
                <a:cs typeface="+mn-cs"/>
              </a:rPr>
              <a:t>2. The ability to construct audits</a:t>
            </a:r>
          </a:p>
          <a:p>
            <a:r>
              <a:rPr lang="en-GB" sz="1200" kern="1200" dirty="0">
                <a:solidFill>
                  <a:schemeClr val="tx1"/>
                </a:solidFill>
                <a:effectLst/>
                <a:latin typeface="+mn-lt"/>
                <a:ea typeface="+mn-ea"/>
                <a:cs typeface="+mn-cs"/>
              </a:rPr>
              <a:t>C4D- no</a:t>
            </a:r>
          </a:p>
          <a:p>
            <a:r>
              <a:rPr lang="en-GB" sz="1200" kern="1200" dirty="0">
                <a:solidFill>
                  <a:schemeClr val="tx1"/>
                </a:solidFill>
                <a:effectLst/>
                <a:latin typeface="+mn-lt"/>
                <a:ea typeface="+mn-ea"/>
                <a:cs typeface="+mn-cs"/>
              </a:rPr>
              <a:t>DENTALLY- No</a:t>
            </a:r>
          </a:p>
          <a:p>
            <a:r>
              <a:rPr lang="en-GB" sz="1200" kern="1200" dirty="0">
                <a:solidFill>
                  <a:schemeClr val="tx1"/>
                </a:solidFill>
                <a:effectLst/>
                <a:latin typeface="+mn-lt"/>
                <a:ea typeface="+mn-ea"/>
                <a:cs typeface="+mn-cs"/>
              </a:rPr>
              <a:t>SOE - No</a:t>
            </a:r>
          </a:p>
          <a:p>
            <a:r>
              <a:rPr lang="en-GB" sz="1200" kern="1200" dirty="0">
                <a:solidFill>
                  <a:schemeClr val="tx1"/>
                </a:solidFill>
                <a:effectLst/>
                <a:latin typeface="+mn-lt"/>
                <a:ea typeface="+mn-ea"/>
                <a:cs typeface="+mn-cs"/>
              </a:rPr>
              <a:t>Carestream R4 - no</a:t>
            </a:r>
          </a:p>
          <a:p>
            <a:r>
              <a:rPr lang="en-GB" sz="1200" kern="1200" dirty="0">
                <a:solidFill>
                  <a:schemeClr val="tx1"/>
                </a:solidFill>
                <a:effectLst/>
                <a:latin typeface="+mn-lt"/>
                <a:ea typeface="+mn-ea"/>
                <a:cs typeface="+mn-cs"/>
              </a:rPr>
              <a:t>There are various centres that will offer assistance to dentists in carrying out a record keeping audit. As a personal preference I would recommend the BDA.</a:t>
            </a:r>
          </a:p>
          <a:p>
            <a:r>
              <a:rPr lang="en-GB" sz="1200" kern="1200" dirty="0">
                <a:solidFill>
                  <a:schemeClr val="tx1"/>
                </a:solidFill>
                <a:effectLst/>
                <a:latin typeface="+mn-lt"/>
                <a:ea typeface="+mn-ea"/>
                <a:cs typeface="+mn-cs"/>
              </a:rPr>
              <a:t>3. The knowledge of record keeping to the dentist so as to act as a guide for continued development </a:t>
            </a:r>
          </a:p>
          <a:p>
            <a:r>
              <a:rPr lang="en-GB" sz="1200" kern="1200" dirty="0">
                <a:solidFill>
                  <a:schemeClr val="tx1"/>
                </a:solidFill>
                <a:effectLst/>
                <a:latin typeface="+mn-lt"/>
                <a:ea typeface="+mn-ea"/>
                <a:cs typeface="+mn-cs"/>
              </a:rPr>
              <a:t>C4D- no</a:t>
            </a:r>
          </a:p>
          <a:p>
            <a:r>
              <a:rPr lang="en-GB" sz="1200" kern="1200" dirty="0">
                <a:solidFill>
                  <a:schemeClr val="tx1"/>
                </a:solidFill>
                <a:effectLst/>
                <a:latin typeface="+mn-lt"/>
                <a:ea typeface="+mn-ea"/>
                <a:cs typeface="+mn-cs"/>
              </a:rPr>
              <a:t>DENTALLY- no</a:t>
            </a:r>
          </a:p>
          <a:p>
            <a:r>
              <a:rPr lang="en-GB" sz="1200" kern="1200" dirty="0">
                <a:solidFill>
                  <a:schemeClr val="tx1"/>
                </a:solidFill>
                <a:effectLst/>
                <a:latin typeface="+mn-lt"/>
                <a:ea typeface="+mn-ea"/>
                <a:cs typeface="+mn-cs"/>
              </a:rPr>
              <a:t>SOE- no</a:t>
            </a:r>
          </a:p>
          <a:p>
            <a:r>
              <a:rPr lang="en-GB" sz="1200" kern="1200" dirty="0">
                <a:solidFill>
                  <a:schemeClr val="tx1"/>
                </a:solidFill>
                <a:effectLst/>
                <a:latin typeface="+mn-lt"/>
                <a:ea typeface="+mn-ea"/>
                <a:cs typeface="+mn-cs"/>
              </a:rPr>
              <a:t>Carestream R4 - no</a:t>
            </a:r>
          </a:p>
          <a:p>
            <a:r>
              <a:rPr lang="en-GB" sz="1200" kern="1200" dirty="0">
                <a:solidFill>
                  <a:schemeClr val="tx1"/>
                </a:solidFill>
                <a:effectLst/>
                <a:latin typeface="+mn-lt"/>
                <a:ea typeface="+mn-ea"/>
                <a:cs typeface="+mn-cs"/>
              </a:rPr>
              <a:t>4. If there are any features that your software has that you (with reference to record keeping), please do let me know.</a:t>
            </a:r>
          </a:p>
          <a:p>
            <a:r>
              <a:rPr lang="en-GB" sz="1200" kern="1200" dirty="0">
                <a:solidFill>
                  <a:schemeClr val="tx1"/>
                </a:solidFill>
                <a:effectLst/>
                <a:latin typeface="+mn-lt"/>
                <a:ea typeface="+mn-ea"/>
                <a:cs typeface="+mn-cs"/>
              </a:rPr>
              <a:t>C4D - patient can access their own notes online via their portal. Password activated.</a:t>
            </a:r>
          </a:p>
          <a:p>
            <a:r>
              <a:rPr lang="en-GB" sz="1200" kern="1200" dirty="0">
                <a:solidFill>
                  <a:schemeClr val="tx1"/>
                </a:solidFill>
                <a:effectLst/>
                <a:latin typeface="+mn-lt"/>
                <a:ea typeface="+mn-ea"/>
                <a:cs typeface="+mn-cs"/>
              </a:rPr>
              <a:t>There is the possibility of remote connection: so a dentist who is already at home realises that he should have added an important notes to a patient’s treatment, so he connects to the practice by means of a secondary User License, calls up the patient record and edits the note</a:t>
            </a:r>
          </a:p>
          <a:p>
            <a:r>
              <a:rPr lang="en-GB" sz="1200" kern="1200" dirty="0">
                <a:solidFill>
                  <a:schemeClr val="tx1"/>
                </a:solidFill>
                <a:effectLst/>
                <a:latin typeface="+mn-lt"/>
                <a:ea typeface="+mn-ea"/>
                <a:cs typeface="+mn-cs"/>
              </a:rPr>
              <a:t>[cloud 4 dentist (C4D) - closed template system Include contents from emails also]</a:t>
            </a:r>
          </a:p>
          <a:p>
            <a:r>
              <a:rPr lang="en-GB" sz="1200" kern="1200" dirty="0">
                <a:solidFill>
                  <a:schemeClr val="tx1"/>
                </a:solidFill>
                <a:effectLst/>
                <a:latin typeface="+mn-lt"/>
                <a:ea typeface="+mn-ea"/>
                <a:cs typeface="+mn-cs"/>
              </a:rPr>
              <a:t>DENTALLY- any treatments are designed to be tooth specific </a:t>
            </a:r>
          </a:p>
          <a:p>
            <a:r>
              <a:rPr lang="en-GB" sz="1200" kern="1200" dirty="0">
                <a:solidFill>
                  <a:schemeClr val="tx1"/>
                </a:solidFill>
                <a:effectLst/>
                <a:latin typeface="+mn-lt"/>
                <a:ea typeface="+mn-ea"/>
                <a:cs typeface="+mn-cs"/>
              </a:rPr>
              <a:t>You have a favourite list for your most used templates- </a:t>
            </a:r>
          </a:p>
          <a:p>
            <a:r>
              <a:rPr lang="en-GB" sz="1200" kern="1200" dirty="0">
                <a:solidFill>
                  <a:schemeClr val="tx1"/>
                </a:solidFill>
                <a:effectLst/>
                <a:latin typeface="+mn-lt"/>
                <a:ea typeface="+mn-ea"/>
                <a:cs typeface="+mn-cs"/>
              </a:rPr>
              <a:t>Treatment plan links in directly with the consent form </a:t>
            </a:r>
          </a:p>
          <a:p>
            <a:r>
              <a:rPr lang="en-GB" sz="1200" kern="1200" dirty="0">
                <a:solidFill>
                  <a:schemeClr val="tx1"/>
                </a:solidFill>
                <a:effectLst/>
                <a:latin typeface="+mn-lt"/>
                <a:ea typeface="+mn-ea"/>
                <a:cs typeface="+mn-cs"/>
              </a:rPr>
              <a:t>Remote access is also a possibility with Dentally.</a:t>
            </a:r>
          </a:p>
          <a:p>
            <a:r>
              <a:rPr lang="en-GB" sz="1200" kern="1200" dirty="0">
                <a:solidFill>
                  <a:schemeClr val="tx1"/>
                </a:solidFill>
                <a:effectLst/>
                <a:latin typeface="+mn-lt"/>
                <a:ea typeface="+mn-ea"/>
                <a:cs typeface="+mn-cs"/>
              </a:rPr>
              <a:t>DENTALLY: https://blog.dentally.co/save-time-with-treatment-planning?_ga=2.125993546.638109071.1546678934-1454637906.1545202137&amp;_gac=1.125996799.1545202137.CjwKCAiA0uLgBRABEiwAecFnk8GyBFIjhWNFToTeAFgZUmPU_LFJOQxVRHSKoyIWpaIRQlZfnoG_iRoC1DQQAvD_BwE</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SOE [- EXACT v12 Clinical Notes are editable until midnight of the day they were created, after which they become read only. ]</a:t>
            </a:r>
          </a:p>
          <a:p>
            <a:r>
              <a:rPr lang="en-GB" sz="1200" kern="1200" dirty="0">
                <a:solidFill>
                  <a:schemeClr val="tx1"/>
                </a:solidFill>
                <a:effectLst/>
                <a:latin typeface="+mn-lt"/>
                <a:ea typeface="+mn-ea"/>
                <a:cs typeface="+mn-cs"/>
              </a:rPr>
              <a:t>There is the possibility of remote connection: so a dentist who is already at home realises that he should have added an important notes to a patient’s treatment, so he connects to the practice by means of a secondary User License, calls up the patient record and edits the note.</a:t>
            </a:r>
          </a:p>
          <a:p>
            <a:r>
              <a:rPr lang="en-GB" sz="1200" kern="1200" dirty="0">
                <a:solidFill>
                  <a:schemeClr val="tx1"/>
                </a:solidFill>
                <a:effectLst/>
                <a:latin typeface="+mn-lt"/>
                <a:ea typeface="+mn-ea"/>
                <a:cs typeface="+mn-cs"/>
              </a:rPr>
              <a:t>Quick note- </a:t>
            </a:r>
            <a:r>
              <a:rPr lang="en-GB" sz="1200" kern="1200" dirty="0" err="1">
                <a:solidFill>
                  <a:schemeClr val="tx1"/>
                </a:solidFill>
                <a:effectLst/>
                <a:latin typeface="+mn-lt"/>
                <a:ea typeface="+mn-ea"/>
                <a:cs typeface="+mn-cs"/>
              </a:rPr>
              <a:t>eg</a:t>
            </a:r>
            <a:r>
              <a:rPr lang="en-GB" sz="1200" kern="1200" dirty="0">
                <a:solidFill>
                  <a:schemeClr val="tx1"/>
                </a:solidFill>
                <a:effectLst/>
                <a:latin typeface="+mn-lt"/>
                <a:ea typeface="+mn-ea"/>
                <a:cs typeface="+mn-cs"/>
              </a:rPr>
              <a:t> for typing the LA used then simply add the appropriate quick note rather than repeatedly typing.</a:t>
            </a:r>
          </a:p>
          <a:p>
            <a:r>
              <a:rPr lang="en-GB" sz="1200" kern="1200" dirty="0">
                <a:solidFill>
                  <a:schemeClr val="tx1"/>
                </a:solidFill>
                <a:effectLst/>
                <a:latin typeface="+mn-lt"/>
                <a:ea typeface="+mn-ea"/>
                <a:cs typeface="+mn-cs"/>
              </a:rPr>
              <a:t>Buttons creating 2D or 3D chart</a:t>
            </a:r>
          </a:p>
          <a:p>
            <a:r>
              <a:rPr lang="en-GB" sz="1200" kern="1200" dirty="0">
                <a:solidFill>
                  <a:schemeClr val="tx1"/>
                </a:solidFill>
                <a:effectLst/>
                <a:latin typeface="+mn-lt"/>
                <a:ea typeface="+mn-ea"/>
                <a:cs typeface="+mn-cs"/>
              </a:rPr>
              <a:t>http://help.soeidental.com/12.15/help-UK/index.htm#3379.htm</a:t>
            </a:r>
          </a:p>
          <a:p>
            <a:r>
              <a:rPr lang="en-GB" sz="1200" kern="1200" dirty="0">
                <a:solidFill>
                  <a:schemeClr val="tx1"/>
                </a:solidFill>
                <a:effectLst/>
                <a:latin typeface="+mn-lt"/>
                <a:ea typeface="+mn-ea"/>
                <a:cs typeface="+mn-cs"/>
              </a:rPr>
              <a:t>R4 - Settings can be set so the chance </a:t>
            </a:r>
            <a:r>
              <a:rPr lang="en-GB" sz="1200" kern="1200" dirty="0" err="1">
                <a:solidFill>
                  <a:schemeClr val="tx1"/>
                </a:solidFill>
                <a:effectLst/>
                <a:latin typeface="+mn-lt"/>
                <a:ea typeface="+mn-ea"/>
                <a:cs typeface="+mn-cs"/>
              </a:rPr>
              <a:t>linical</a:t>
            </a:r>
            <a:r>
              <a:rPr lang="en-GB" sz="1200" kern="1200" dirty="0">
                <a:solidFill>
                  <a:schemeClr val="tx1"/>
                </a:solidFill>
                <a:effectLst/>
                <a:latin typeface="+mn-lt"/>
                <a:ea typeface="+mn-ea"/>
                <a:cs typeface="+mn-cs"/>
              </a:rPr>
              <a:t> Notes are also editable until midnight of the day they were created, after which they become read only.</a:t>
            </a:r>
          </a:p>
          <a:p>
            <a:r>
              <a:rPr lang="en-GB" sz="1200" kern="1200" dirty="0">
                <a:solidFill>
                  <a:schemeClr val="tx1"/>
                </a:solidFill>
                <a:effectLst/>
                <a:latin typeface="+mn-lt"/>
                <a:ea typeface="+mn-ea"/>
                <a:cs typeface="+mn-cs"/>
              </a:rPr>
              <a:t>Users can create their own template favourites list </a:t>
            </a:r>
          </a:p>
          <a:p>
            <a:r>
              <a:rPr lang="en-GB" sz="1200" kern="1200" dirty="0">
                <a:solidFill>
                  <a:schemeClr val="tx1"/>
                </a:solidFill>
                <a:effectLst/>
                <a:latin typeface="+mn-lt"/>
                <a:ea typeface="+mn-ea"/>
                <a:cs typeface="+mn-cs"/>
              </a:rPr>
              <a:t>Codes to highlight specific treatment </a:t>
            </a:r>
          </a:p>
          <a:p>
            <a:r>
              <a:rPr lang="en-GB" sz="1200" kern="1200" dirty="0">
                <a:solidFill>
                  <a:schemeClr val="tx1"/>
                </a:solidFill>
                <a:effectLst/>
                <a:latin typeface="+mn-lt"/>
                <a:ea typeface="+mn-ea"/>
                <a:cs typeface="+mn-cs"/>
              </a:rPr>
              <a:t>There is the possibility of remote connection: so a dentist who is already at home realises that he should have added an important notes to a patient’s treatment, so he connects to the practice by means of a secondary User License, calls up the patient record and edits the note</a:t>
            </a:r>
          </a:p>
          <a:p>
            <a:r>
              <a:rPr lang="en-GB" sz="1200" kern="1200" dirty="0">
                <a:solidFill>
                  <a:schemeClr val="tx1"/>
                </a:solidFill>
                <a:effectLst/>
                <a:latin typeface="+mn-lt"/>
                <a:ea typeface="+mn-ea"/>
                <a:cs typeface="+mn-cs"/>
              </a:rPr>
              <a:t>Remember words are power.</a:t>
            </a:r>
          </a:p>
          <a:p>
            <a:r>
              <a:rPr lang="en-GB" sz="1200" kern="1200" dirty="0">
                <a:solidFill>
                  <a:schemeClr val="tx1"/>
                </a:solidFill>
                <a:effectLst/>
                <a:latin typeface="+mn-lt"/>
                <a:ea typeface="+mn-ea"/>
                <a:cs typeface="+mn-cs"/>
              </a:rPr>
              <a:t>With words one could create a safe environment, change a life and inspire a nation</a:t>
            </a:r>
          </a:p>
          <a:p>
            <a:r>
              <a:rPr lang="en-GB" sz="1200" kern="1200" dirty="0">
                <a:solidFill>
                  <a:schemeClr val="tx1"/>
                </a:solidFill>
                <a:effectLst/>
                <a:latin typeface="+mn-lt"/>
                <a:ea typeface="+mn-ea"/>
                <a:cs typeface="+mn-cs"/>
              </a:rPr>
              <a:t>Isn’t that what we all wanted, isn’t that why we are all here?</a:t>
            </a:r>
          </a:p>
          <a:p>
            <a:r>
              <a:rPr lang="en-GB" sz="1200" kern="1200" dirty="0">
                <a:solidFill>
                  <a:schemeClr val="tx1"/>
                </a:solidFill>
                <a:effectLst/>
                <a:latin typeface="+mn-lt"/>
                <a:ea typeface="+mn-ea"/>
                <a:cs typeface="+mn-cs"/>
              </a:rPr>
              <a:t>Ladies and gentlemen let that be our goal!</a:t>
            </a:r>
          </a:p>
          <a:p>
            <a:endParaRPr lang="en-GB" dirty="0"/>
          </a:p>
        </p:txBody>
      </p:sp>
      <p:sp>
        <p:nvSpPr>
          <p:cNvPr id="4" name="Slide Number Placeholder 3"/>
          <p:cNvSpPr>
            <a:spLocks noGrp="1"/>
          </p:cNvSpPr>
          <p:nvPr>
            <p:ph type="sldNum" sz="quarter" idx="5"/>
          </p:nvPr>
        </p:nvSpPr>
        <p:spPr/>
        <p:txBody>
          <a:bodyPr/>
          <a:lstStyle/>
          <a:p>
            <a:fld id="{EA3C2251-600B-4BDC-820B-15EB4DE9420F}" type="slidenum">
              <a:rPr lang="en-GB" smtClean="0"/>
              <a:t>53</a:t>
            </a:fld>
            <a:endParaRPr lang="en-GB"/>
          </a:p>
        </p:txBody>
      </p:sp>
    </p:spTree>
    <p:extLst>
      <p:ext uri="{BB962C8B-B14F-4D97-AF65-F5344CB8AC3E}">
        <p14:creationId xmlns:p14="http://schemas.microsoft.com/office/powerpoint/2010/main" val="36562577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92678-82C6-4876-8123-39FB23B703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8A4B8DF-BFE8-4AA4-B14A-D5F8595D73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0C69E2-8EC5-47E3-880F-068249127A31}"/>
              </a:ext>
            </a:extLst>
          </p:cNvPr>
          <p:cNvSpPr>
            <a:spLocks noGrp="1"/>
          </p:cNvSpPr>
          <p:nvPr>
            <p:ph type="dt" sz="half" idx="10"/>
          </p:nvPr>
        </p:nvSpPr>
        <p:spPr/>
        <p:txBody>
          <a:bodyPr/>
          <a:lstStyle/>
          <a:p>
            <a:fld id="{17DAAF14-38D7-4203-A1D5-D2DC37A62C38}" type="datetimeFigureOut">
              <a:rPr lang="en-GB" smtClean="0"/>
              <a:t>15/03/2019</a:t>
            </a:fld>
            <a:endParaRPr lang="en-GB"/>
          </a:p>
        </p:txBody>
      </p:sp>
      <p:sp>
        <p:nvSpPr>
          <p:cNvPr id="5" name="Footer Placeholder 4">
            <a:extLst>
              <a:ext uri="{FF2B5EF4-FFF2-40B4-BE49-F238E27FC236}">
                <a16:creationId xmlns:a16="http://schemas.microsoft.com/office/drawing/2014/main" id="{F7F3D0C8-A462-49E0-BE99-4211A55BF73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3AF9386-EEB1-41F5-BC87-D9F093DDE0E0}"/>
              </a:ext>
            </a:extLst>
          </p:cNvPr>
          <p:cNvSpPr>
            <a:spLocks noGrp="1"/>
          </p:cNvSpPr>
          <p:nvPr>
            <p:ph type="sldNum" sz="quarter" idx="12"/>
          </p:nvPr>
        </p:nvSpPr>
        <p:spPr/>
        <p:txBody>
          <a:bodyPr/>
          <a:lstStyle/>
          <a:p>
            <a:fld id="{CE154408-AC0B-473C-8A11-574207DB3B30}" type="slidenum">
              <a:rPr lang="en-GB" smtClean="0"/>
              <a:t>‹#›</a:t>
            </a:fld>
            <a:endParaRPr lang="en-GB"/>
          </a:p>
        </p:txBody>
      </p:sp>
    </p:spTree>
    <p:extLst>
      <p:ext uri="{BB962C8B-B14F-4D97-AF65-F5344CB8AC3E}">
        <p14:creationId xmlns:p14="http://schemas.microsoft.com/office/powerpoint/2010/main" val="1132437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EDDD2-979A-42E5-BB96-266AC40E993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8521C78-1A64-4188-99DC-25A2BE0FAA8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8E3C79B-7547-4343-86B6-43311184E88E}"/>
              </a:ext>
            </a:extLst>
          </p:cNvPr>
          <p:cNvSpPr>
            <a:spLocks noGrp="1"/>
          </p:cNvSpPr>
          <p:nvPr>
            <p:ph type="dt" sz="half" idx="10"/>
          </p:nvPr>
        </p:nvSpPr>
        <p:spPr/>
        <p:txBody>
          <a:bodyPr/>
          <a:lstStyle/>
          <a:p>
            <a:fld id="{17DAAF14-38D7-4203-A1D5-D2DC37A62C38}" type="datetimeFigureOut">
              <a:rPr lang="en-GB" smtClean="0"/>
              <a:t>15/03/2019</a:t>
            </a:fld>
            <a:endParaRPr lang="en-GB"/>
          </a:p>
        </p:txBody>
      </p:sp>
      <p:sp>
        <p:nvSpPr>
          <p:cNvPr id="5" name="Footer Placeholder 4">
            <a:extLst>
              <a:ext uri="{FF2B5EF4-FFF2-40B4-BE49-F238E27FC236}">
                <a16:creationId xmlns:a16="http://schemas.microsoft.com/office/drawing/2014/main" id="{582C14F4-AC76-4598-B183-7E17366CAA0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8E50C8A-4738-42D3-9723-E48698696AAC}"/>
              </a:ext>
            </a:extLst>
          </p:cNvPr>
          <p:cNvSpPr>
            <a:spLocks noGrp="1"/>
          </p:cNvSpPr>
          <p:nvPr>
            <p:ph type="sldNum" sz="quarter" idx="12"/>
          </p:nvPr>
        </p:nvSpPr>
        <p:spPr/>
        <p:txBody>
          <a:bodyPr/>
          <a:lstStyle/>
          <a:p>
            <a:fld id="{CE154408-AC0B-473C-8A11-574207DB3B30}" type="slidenum">
              <a:rPr lang="en-GB" smtClean="0"/>
              <a:t>‹#›</a:t>
            </a:fld>
            <a:endParaRPr lang="en-GB"/>
          </a:p>
        </p:txBody>
      </p:sp>
    </p:spTree>
    <p:extLst>
      <p:ext uri="{BB962C8B-B14F-4D97-AF65-F5344CB8AC3E}">
        <p14:creationId xmlns:p14="http://schemas.microsoft.com/office/powerpoint/2010/main" val="2341021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CC49B-3764-4ED4-BEC6-2248988D43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0D39D16-01BB-44A2-86BF-C0EB0B206B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C4FA2A6-F8C7-4F51-A123-8562EE3DEC60}"/>
              </a:ext>
            </a:extLst>
          </p:cNvPr>
          <p:cNvSpPr>
            <a:spLocks noGrp="1"/>
          </p:cNvSpPr>
          <p:nvPr>
            <p:ph type="dt" sz="half" idx="10"/>
          </p:nvPr>
        </p:nvSpPr>
        <p:spPr/>
        <p:txBody>
          <a:bodyPr/>
          <a:lstStyle/>
          <a:p>
            <a:fld id="{17DAAF14-38D7-4203-A1D5-D2DC37A62C38}" type="datetimeFigureOut">
              <a:rPr lang="en-GB" smtClean="0"/>
              <a:t>15/03/2019</a:t>
            </a:fld>
            <a:endParaRPr lang="en-GB"/>
          </a:p>
        </p:txBody>
      </p:sp>
      <p:sp>
        <p:nvSpPr>
          <p:cNvPr id="5" name="Footer Placeholder 4">
            <a:extLst>
              <a:ext uri="{FF2B5EF4-FFF2-40B4-BE49-F238E27FC236}">
                <a16:creationId xmlns:a16="http://schemas.microsoft.com/office/drawing/2014/main" id="{2CD7525B-3BEC-491B-B6CD-0EA1B855EE8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53B9C6-10D4-4F27-9A67-B0C39882EDEE}"/>
              </a:ext>
            </a:extLst>
          </p:cNvPr>
          <p:cNvSpPr>
            <a:spLocks noGrp="1"/>
          </p:cNvSpPr>
          <p:nvPr>
            <p:ph type="sldNum" sz="quarter" idx="12"/>
          </p:nvPr>
        </p:nvSpPr>
        <p:spPr/>
        <p:txBody>
          <a:bodyPr/>
          <a:lstStyle/>
          <a:p>
            <a:fld id="{CE154408-AC0B-473C-8A11-574207DB3B30}" type="slidenum">
              <a:rPr lang="en-GB" smtClean="0"/>
              <a:t>‹#›</a:t>
            </a:fld>
            <a:endParaRPr lang="en-GB"/>
          </a:p>
        </p:txBody>
      </p:sp>
    </p:spTree>
    <p:extLst>
      <p:ext uri="{BB962C8B-B14F-4D97-AF65-F5344CB8AC3E}">
        <p14:creationId xmlns:p14="http://schemas.microsoft.com/office/powerpoint/2010/main" val="415331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EF81D-1FF0-4166-9A59-217134DE879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6B25EFC-8677-4489-8CE2-084EA6B722C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DA3A9C7-40C9-4297-A346-DFF8B4B0E08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8B27269-3D73-4C28-BDA7-C0A4C666ABB8}"/>
              </a:ext>
            </a:extLst>
          </p:cNvPr>
          <p:cNvSpPr>
            <a:spLocks noGrp="1"/>
          </p:cNvSpPr>
          <p:nvPr>
            <p:ph type="dt" sz="half" idx="10"/>
          </p:nvPr>
        </p:nvSpPr>
        <p:spPr/>
        <p:txBody>
          <a:bodyPr/>
          <a:lstStyle/>
          <a:p>
            <a:fld id="{17DAAF14-38D7-4203-A1D5-D2DC37A62C38}" type="datetimeFigureOut">
              <a:rPr lang="en-GB" smtClean="0"/>
              <a:t>15/03/2019</a:t>
            </a:fld>
            <a:endParaRPr lang="en-GB"/>
          </a:p>
        </p:txBody>
      </p:sp>
      <p:sp>
        <p:nvSpPr>
          <p:cNvPr id="6" name="Footer Placeholder 5">
            <a:extLst>
              <a:ext uri="{FF2B5EF4-FFF2-40B4-BE49-F238E27FC236}">
                <a16:creationId xmlns:a16="http://schemas.microsoft.com/office/drawing/2014/main" id="{CF4A8BD9-C5D9-438C-BA24-4F9C410AB51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200E703-D83A-4B10-AA62-AA2C4F73AEF4}"/>
              </a:ext>
            </a:extLst>
          </p:cNvPr>
          <p:cNvSpPr>
            <a:spLocks noGrp="1"/>
          </p:cNvSpPr>
          <p:nvPr>
            <p:ph type="sldNum" sz="quarter" idx="12"/>
          </p:nvPr>
        </p:nvSpPr>
        <p:spPr/>
        <p:txBody>
          <a:bodyPr/>
          <a:lstStyle/>
          <a:p>
            <a:fld id="{CE154408-AC0B-473C-8A11-574207DB3B30}" type="slidenum">
              <a:rPr lang="en-GB" smtClean="0"/>
              <a:t>‹#›</a:t>
            </a:fld>
            <a:endParaRPr lang="en-GB"/>
          </a:p>
        </p:txBody>
      </p:sp>
    </p:spTree>
    <p:extLst>
      <p:ext uri="{BB962C8B-B14F-4D97-AF65-F5344CB8AC3E}">
        <p14:creationId xmlns:p14="http://schemas.microsoft.com/office/powerpoint/2010/main" val="2575838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36B53-C027-4C85-B7F7-D0E8CFD4CAA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9D3AD1E-55CB-4795-A529-28B0BD7310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073258C-99E9-4399-9E9F-DF574C82662A}"/>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F24EE19-B8FA-44BA-8215-B56349ADBD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ED83586-BD9B-4472-AC10-9089A70B94D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C795F5E-2707-4CEA-8704-1CB76C390955}"/>
              </a:ext>
            </a:extLst>
          </p:cNvPr>
          <p:cNvSpPr>
            <a:spLocks noGrp="1"/>
          </p:cNvSpPr>
          <p:nvPr>
            <p:ph type="dt" sz="half" idx="10"/>
          </p:nvPr>
        </p:nvSpPr>
        <p:spPr/>
        <p:txBody>
          <a:bodyPr/>
          <a:lstStyle/>
          <a:p>
            <a:fld id="{17DAAF14-38D7-4203-A1D5-D2DC37A62C38}" type="datetimeFigureOut">
              <a:rPr lang="en-GB" smtClean="0"/>
              <a:t>15/03/2019</a:t>
            </a:fld>
            <a:endParaRPr lang="en-GB"/>
          </a:p>
        </p:txBody>
      </p:sp>
      <p:sp>
        <p:nvSpPr>
          <p:cNvPr id="8" name="Footer Placeholder 7">
            <a:extLst>
              <a:ext uri="{FF2B5EF4-FFF2-40B4-BE49-F238E27FC236}">
                <a16:creationId xmlns:a16="http://schemas.microsoft.com/office/drawing/2014/main" id="{51EE3204-1E72-4D0E-8086-A5AC0E8ED28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175B2DE-FD02-4A3F-BA22-C14DC8A42962}"/>
              </a:ext>
            </a:extLst>
          </p:cNvPr>
          <p:cNvSpPr>
            <a:spLocks noGrp="1"/>
          </p:cNvSpPr>
          <p:nvPr>
            <p:ph type="sldNum" sz="quarter" idx="12"/>
          </p:nvPr>
        </p:nvSpPr>
        <p:spPr/>
        <p:txBody>
          <a:bodyPr/>
          <a:lstStyle/>
          <a:p>
            <a:fld id="{CE154408-AC0B-473C-8A11-574207DB3B30}" type="slidenum">
              <a:rPr lang="en-GB" smtClean="0"/>
              <a:t>‹#›</a:t>
            </a:fld>
            <a:endParaRPr lang="en-GB"/>
          </a:p>
        </p:txBody>
      </p:sp>
    </p:spTree>
    <p:extLst>
      <p:ext uri="{BB962C8B-B14F-4D97-AF65-F5344CB8AC3E}">
        <p14:creationId xmlns:p14="http://schemas.microsoft.com/office/powerpoint/2010/main" val="2101441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42752-53AA-4E7F-B6A3-2B48C39CA06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E82961-C9F1-4146-92D1-21B092429CD7}"/>
              </a:ext>
            </a:extLst>
          </p:cNvPr>
          <p:cNvSpPr>
            <a:spLocks noGrp="1"/>
          </p:cNvSpPr>
          <p:nvPr>
            <p:ph type="dt" sz="half" idx="10"/>
          </p:nvPr>
        </p:nvSpPr>
        <p:spPr/>
        <p:txBody>
          <a:bodyPr/>
          <a:lstStyle/>
          <a:p>
            <a:fld id="{17DAAF14-38D7-4203-A1D5-D2DC37A62C38}" type="datetimeFigureOut">
              <a:rPr lang="en-GB" smtClean="0"/>
              <a:t>15/03/2019</a:t>
            </a:fld>
            <a:endParaRPr lang="en-GB"/>
          </a:p>
        </p:txBody>
      </p:sp>
      <p:sp>
        <p:nvSpPr>
          <p:cNvPr id="4" name="Footer Placeholder 3">
            <a:extLst>
              <a:ext uri="{FF2B5EF4-FFF2-40B4-BE49-F238E27FC236}">
                <a16:creationId xmlns:a16="http://schemas.microsoft.com/office/drawing/2014/main" id="{62B5F9F1-A5DD-4C2F-AF94-C4F5B3B7676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825A620-6866-44B6-AB13-1DC214E4D768}"/>
              </a:ext>
            </a:extLst>
          </p:cNvPr>
          <p:cNvSpPr>
            <a:spLocks noGrp="1"/>
          </p:cNvSpPr>
          <p:nvPr>
            <p:ph type="sldNum" sz="quarter" idx="12"/>
          </p:nvPr>
        </p:nvSpPr>
        <p:spPr/>
        <p:txBody>
          <a:bodyPr/>
          <a:lstStyle/>
          <a:p>
            <a:fld id="{CE154408-AC0B-473C-8A11-574207DB3B30}" type="slidenum">
              <a:rPr lang="en-GB" smtClean="0"/>
              <a:t>‹#›</a:t>
            </a:fld>
            <a:endParaRPr lang="en-GB"/>
          </a:p>
        </p:txBody>
      </p:sp>
    </p:spTree>
    <p:extLst>
      <p:ext uri="{BB962C8B-B14F-4D97-AF65-F5344CB8AC3E}">
        <p14:creationId xmlns:p14="http://schemas.microsoft.com/office/powerpoint/2010/main" val="1405967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509E1B-E7E5-4887-99EA-7474D2C62D21}"/>
              </a:ext>
            </a:extLst>
          </p:cNvPr>
          <p:cNvSpPr>
            <a:spLocks noGrp="1"/>
          </p:cNvSpPr>
          <p:nvPr>
            <p:ph type="dt" sz="half" idx="10"/>
          </p:nvPr>
        </p:nvSpPr>
        <p:spPr/>
        <p:txBody>
          <a:bodyPr/>
          <a:lstStyle/>
          <a:p>
            <a:fld id="{17DAAF14-38D7-4203-A1D5-D2DC37A62C38}" type="datetimeFigureOut">
              <a:rPr lang="en-GB" smtClean="0"/>
              <a:t>15/03/2019</a:t>
            </a:fld>
            <a:endParaRPr lang="en-GB"/>
          </a:p>
        </p:txBody>
      </p:sp>
      <p:sp>
        <p:nvSpPr>
          <p:cNvPr id="3" name="Footer Placeholder 2">
            <a:extLst>
              <a:ext uri="{FF2B5EF4-FFF2-40B4-BE49-F238E27FC236}">
                <a16:creationId xmlns:a16="http://schemas.microsoft.com/office/drawing/2014/main" id="{55626190-451D-4699-BB7E-B2EED6ABC4C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83D2B4A-0BB1-4020-B824-CFB9013CFD75}"/>
              </a:ext>
            </a:extLst>
          </p:cNvPr>
          <p:cNvSpPr>
            <a:spLocks noGrp="1"/>
          </p:cNvSpPr>
          <p:nvPr>
            <p:ph type="sldNum" sz="quarter" idx="12"/>
          </p:nvPr>
        </p:nvSpPr>
        <p:spPr/>
        <p:txBody>
          <a:bodyPr/>
          <a:lstStyle/>
          <a:p>
            <a:fld id="{CE154408-AC0B-473C-8A11-574207DB3B30}" type="slidenum">
              <a:rPr lang="en-GB" smtClean="0"/>
              <a:t>‹#›</a:t>
            </a:fld>
            <a:endParaRPr lang="en-GB"/>
          </a:p>
        </p:txBody>
      </p:sp>
    </p:spTree>
    <p:extLst>
      <p:ext uri="{BB962C8B-B14F-4D97-AF65-F5344CB8AC3E}">
        <p14:creationId xmlns:p14="http://schemas.microsoft.com/office/powerpoint/2010/main" val="395397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92F1C-3528-43BD-9B9F-5B8BABF13A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5BB5CD9-A5E5-4717-996C-0DCFF0E8DB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37DD308-972C-48D2-8175-03CFBF8536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1EC70DC-0111-4524-AED4-3101C77F2765}"/>
              </a:ext>
            </a:extLst>
          </p:cNvPr>
          <p:cNvSpPr>
            <a:spLocks noGrp="1"/>
          </p:cNvSpPr>
          <p:nvPr>
            <p:ph type="dt" sz="half" idx="10"/>
          </p:nvPr>
        </p:nvSpPr>
        <p:spPr/>
        <p:txBody>
          <a:bodyPr/>
          <a:lstStyle/>
          <a:p>
            <a:fld id="{17DAAF14-38D7-4203-A1D5-D2DC37A62C38}" type="datetimeFigureOut">
              <a:rPr lang="en-GB" smtClean="0"/>
              <a:t>15/03/2019</a:t>
            </a:fld>
            <a:endParaRPr lang="en-GB"/>
          </a:p>
        </p:txBody>
      </p:sp>
      <p:sp>
        <p:nvSpPr>
          <p:cNvPr id="6" name="Footer Placeholder 5">
            <a:extLst>
              <a:ext uri="{FF2B5EF4-FFF2-40B4-BE49-F238E27FC236}">
                <a16:creationId xmlns:a16="http://schemas.microsoft.com/office/drawing/2014/main" id="{6694E30B-2BE1-4AF0-8972-DDFF77C35CC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77531E3-E8BD-4543-9DCB-DFFE3FECC352}"/>
              </a:ext>
            </a:extLst>
          </p:cNvPr>
          <p:cNvSpPr>
            <a:spLocks noGrp="1"/>
          </p:cNvSpPr>
          <p:nvPr>
            <p:ph type="sldNum" sz="quarter" idx="12"/>
          </p:nvPr>
        </p:nvSpPr>
        <p:spPr/>
        <p:txBody>
          <a:bodyPr/>
          <a:lstStyle/>
          <a:p>
            <a:fld id="{CE154408-AC0B-473C-8A11-574207DB3B30}" type="slidenum">
              <a:rPr lang="en-GB" smtClean="0"/>
              <a:t>‹#›</a:t>
            </a:fld>
            <a:endParaRPr lang="en-GB"/>
          </a:p>
        </p:txBody>
      </p:sp>
    </p:spTree>
    <p:extLst>
      <p:ext uri="{BB962C8B-B14F-4D97-AF65-F5344CB8AC3E}">
        <p14:creationId xmlns:p14="http://schemas.microsoft.com/office/powerpoint/2010/main" val="3229848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F872C-B92A-4711-9FDF-3CC169A650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EACB230-3B37-4EDC-B392-67341B839A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A45726C-FCA7-479E-A80A-D0E767FF0F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0C0B90C-A3D6-4F55-8E4B-295616EBEF9A}"/>
              </a:ext>
            </a:extLst>
          </p:cNvPr>
          <p:cNvSpPr>
            <a:spLocks noGrp="1"/>
          </p:cNvSpPr>
          <p:nvPr>
            <p:ph type="dt" sz="half" idx="10"/>
          </p:nvPr>
        </p:nvSpPr>
        <p:spPr/>
        <p:txBody>
          <a:bodyPr/>
          <a:lstStyle/>
          <a:p>
            <a:fld id="{17DAAF14-38D7-4203-A1D5-D2DC37A62C38}" type="datetimeFigureOut">
              <a:rPr lang="en-GB" smtClean="0"/>
              <a:t>15/03/2019</a:t>
            </a:fld>
            <a:endParaRPr lang="en-GB"/>
          </a:p>
        </p:txBody>
      </p:sp>
      <p:sp>
        <p:nvSpPr>
          <p:cNvPr id="6" name="Footer Placeholder 5">
            <a:extLst>
              <a:ext uri="{FF2B5EF4-FFF2-40B4-BE49-F238E27FC236}">
                <a16:creationId xmlns:a16="http://schemas.microsoft.com/office/drawing/2014/main" id="{F1B47AED-0AEC-4073-86EB-B84D3B60B8E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20F87BC-D3E3-4713-B6FD-25E2ADFE4B53}"/>
              </a:ext>
            </a:extLst>
          </p:cNvPr>
          <p:cNvSpPr>
            <a:spLocks noGrp="1"/>
          </p:cNvSpPr>
          <p:nvPr>
            <p:ph type="sldNum" sz="quarter" idx="12"/>
          </p:nvPr>
        </p:nvSpPr>
        <p:spPr/>
        <p:txBody>
          <a:bodyPr/>
          <a:lstStyle/>
          <a:p>
            <a:fld id="{CE154408-AC0B-473C-8A11-574207DB3B30}" type="slidenum">
              <a:rPr lang="en-GB" smtClean="0"/>
              <a:t>‹#›</a:t>
            </a:fld>
            <a:endParaRPr lang="en-GB"/>
          </a:p>
        </p:txBody>
      </p:sp>
    </p:spTree>
    <p:extLst>
      <p:ext uri="{BB962C8B-B14F-4D97-AF65-F5344CB8AC3E}">
        <p14:creationId xmlns:p14="http://schemas.microsoft.com/office/powerpoint/2010/main" val="3403120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01579-1437-44D2-9FCF-6CEEADD6A4B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7248483-FE32-4976-8F2B-9E07258C3DA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CA8CBCA-5DFA-4723-8803-92D17548BFB3}"/>
              </a:ext>
            </a:extLst>
          </p:cNvPr>
          <p:cNvSpPr>
            <a:spLocks noGrp="1"/>
          </p:cNvSpPr>
          <p:nvPr>
            <p:ph type="dt" sz="half" idx="10"/>
          </p:nvPr>
        </p:nvSpPr>
        <p:spPr/>
        <p:txBody>
          <a:bodyPr/>
          <a:lstStyle/>
          <a:p>
            <a:fld id="{17DAAF14-38D7-4203-A1D5-D2DC37A62C38}" type="datetimeFigureOut">
              <a:rPr lang="en-GB" smtClean="0"/>
              <a:t>15/03/2019</a:t>
            </a:fld>
            <a:endParaRPr lang="en-GB"/>
          </a:p>
        </p:txBody>
      </p:sp>
      <p:sp>
        <p:nvSpPr>
          <p:cNvPr id="5" name="Footer Placeholder 4">
            <a:extLst>
              <a:ext uri="{FF2B5EF4-FFF2-40B4-BE49-F238E27FC236}">
                <a16:creationId xmlns:a16="http://schemas.microsoft.com/office/drawing/2014/main" id="{7D8217C6-78F8-4AFC-86BE-19E6B8D8566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79F2F25-E690-43DD-AFB1-A7BFEAF67369}"/>
              </a:ext>
            </a:extLst>
          </p:cNvPr>
          <p:cNvSpPr>
            <a:spLocks noGrp="1"/>
          </p:cNvSpPr>
          <p:nvPr>
            <p:ph type="sldNum" sz="quarter" idx="12"/>
          </p:nvPr>
        </p:nvSpPr>
        <p:spPr/>
        <p:txBody>
          <a:bodyPr/>
          <a:lstStyle/>
          <a:p>
            <a:fld id="{CE154408-AC0B-473C-8A11-574207DB3B30}" type="slidenum">
              <a:rPr lang="en-GB" smtClean="0"/>
              <a:t>‹#›</a:t>
            </a:fld>
            <a:endParaRPr lang="en-GB"/>
          </a:p>
        </p:txBody>
      </p:sp>
    </p:spTree>
    <p:extLst>
      <p:ext uri="{BB962C8B-B14F-4D97-AF65-F5344CB8AC3E}">
        <p14:creationId xmlns:p14="http://schemas.microsoft.com/office/powerpoint/2010/main" val="1048662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037D91-A34E-40E7-AAE4-152480D4930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5DE41DB-7E81-46E5-927D-50C36E19414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A782AEF-01E0-4F51-89D3-8FCD12158684}"/>
              </a:ext>
            </a:extLst>
          </p:cNvPr>
          <p:cNvSpPr>
            <a:spLocks noGrp="1"/>
          </p:cNvSpPr>
          <p:nvPr>
            <p:ph type="dt" sz="half" idx="10"/>
          </p:nvPr>
        </p:nvSpPr>
        <p:spPr/>
        <p:txBody>
          <a:bodyPr/>
          <a:lstStyle/>
          <a:p>
            <a:fld id="{17DAAF14-38D7-4203-A1D5-D2DC37A62C38}" type="datetimeFigureOut">
              <a:rPr lang="en-GB" smtClean="0"/>
              <a:t>15/03/2019</a:t>
            </a:fld>
            <a:endParaRPr lang="en-GB"/>
          </a:p>
        </p:txBody>
      </p:sp>
      <p:sp>
        <p:nvSpPr>
          <p:cNvPr id="5" name="Footer Placeholder 4">
            <a:extLst>
              <a:ext uri="{FF2B5EF4-FFF2-40B4-BE49-F238E27FC236}">
                <a16:creationId xmlns:a16="http://schemas.microsoft.com/office/drawing/2014/main" id="{DD42AB2F-F820-41B4-A0C2-833BB581C92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C2BFB43-8C6E-47C6-87E5-1DD53590068A}"/>
              </a:ext>
            </a:extLst>
          </p:cNvPr>
          <p:cNvSpPr>
            <a:spLocks noGrp="1"/>
          </p:cNvSpPr>
          <p:nvPr>
            <p:ph type="sldNum" sz="quarter" idx="12"/>
          </p:nvPr>
        </p:nvSpPr>
        <p:spPr/>
        <p:txBody>
          <a:bodyPr/>
          <a:lstStyle/>
          <a:p>
            <a:fld id="{CE154408-AC0B-473C-8A11-574207DB3B30}" type="slidenum">
              <a:rPr lang="en-GB" smtClean="0"/>
              <a:t>‹#›</a:t>
            </a:fld>
            <a:endParaRPr lang="en-GB"/>
          </a:p>
        </p:txBody>
      </p:sp>
    </p:spTree>
    <p:extLst>
      <p:ext uri="{BB962C8B-B14F-4D97-AF65-F5344CB8AC3E}">
        <p14:creationId xmlns:p14="http://schemas.microsoft.com/office/powerpoint/2010/main" val="41797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AF030-648E-4C14-A096-E5AF47BC8362}"/>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092B7A5-5266-4262-9D0E-E656FFF81369}"/>
              </a:ext>
            </a:extLst>
          </p:cNvPr>
          <p:cNvSpPr>
            <a:spLocks noGrp="1"/>
          </p:cNvSpPr>
          <p:nvPr>
            <p:ph type="body"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822A53D-7077-484D-B28E-DC1859161C6C}"/>
              </a:ext>
            </a:extLst>
          </p:cNvPr>
          <p:cNvSpPr>
            <a:spLocks noGrp="1"/>
          </p:cNvSpPr>
          <p:nvPr>
            <p:ph type="dt" sz="half" idx="10"/>
          </p:nvPr>
        </p:nvSpPr>
        <p:spPr/>
        <p:txBody>
          <a:bodyPr/>
          <a:lstStyle/>
          <a:p>
            <a:fld id="{EF89342D-DDC6-491A-9BB8-4AB1BFC6D5A2}" type="datetimeFigureOut">
              <a:rPr lang="en-GB" smtClean="0"/>
              <a:t>15/03/2019</a:t>
            </a:fld>
            <a:endParaRPr lang="en-GB"/>
          </a:p>
        </p:txBody>
      </p:sp>
      <p:sp>
        <p:nvSpPr>
          <p:cNvPr id="5" name="Footer Placeholder 4">
            <a:extLst>
              <a:ext uri="{FF2B5EF4-FFF2-40B4-BE49-F238E27FC236}">
                <a16:creationId xmlns:a16="http://schemas.microsoft.com/office/drawing/2014/main" id="{4142DE23-6F6A-4762-8126-148EE1A1009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DD9159F-0473-4402-B905-1A0A60BAC65B}"/>
              </a:ext>
            </a:extLst>
          </p:cNvPr>
          <p:cNvSpPr>
            <a:spLocks noGrp="1"/>
          </p:cNvSpPr>
          <p:nvPr>
            <p:ph type="sldNum" sz="quarter" idx="12"/>
          </p:nvPr>
        </p:nvSpPr>
        <p:spPr/>
        <p:txBody>
          <a:bodyPr/>
          <a:lstStyle/>
          <a:p>
            <a:fld id="{D09CB31D-E422-49C4-BE87-CCB547866200}" type="slidenum">
              <a:rPr lang="en-GB" smtClean="0"/>
              <a:t>‹#›</a:t>
            </a:fld>
            <a:endParaRPr lang="en-GB"/>
          </a:p>
        </p:txBody>
      </p:sp>
    </p:spTree>
    <p:extLst>
      <p:ext uri="{BB962C8B-B14F-4D97-AF65-F5344CB8AC3E}">
        <p14:creationId xmlns:p14="http://schemas.microsoft.com/office/powerpoint/2010/main" val="4249370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DA6C40-B667-4635-9862-523C66893D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8F4425A-77C7-42CF-BD36-C8D20D2539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03BBB0A-2978-4214-AD6F-A9E98D5E4A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DAAF14-38D7-4203-A1D5-D2DC37A62C38}" type="datetimeFigureOut">
              <a:rPr lang="en-GB" smtClean="0"/>
              <a:t>15/03/2019</a:t>
            </a:fld>
            <a:endParaRPr lang="en-GB"/>
          </a:p>
        </p:txBody>
      </p:sp>
      <p:sp>
        <p:nvSpPr>
          <p:cNvPr id="5" name="Footer Placeholder 4">
            <a:extLst>
              <a:ext uri="{FF2B5EF4-FFF2-40B4-BE49-F238E27FC236}">
                <a16:creationId xmlns:a16="http://schemas.microsoft.com/office/drawing/2014/main" id="{73DBDD7C-8012-453F-8C1F-37F833E5B3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0F288F50-E9FD-42D8-BE1A-586A68AD30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154408-AC0B-473C-8A11-574207DB3B30}" type="slidenum">
              <a:rPr lang="en-GB" smtClean="0"/>
              <a:t>‹#›</a:t>
            </a:fld>
            <a:endParaRPr lang="en-GB"/>
          </a:p>
        </p:txBody>
      </p:sp>
    </p:spTree>
    <p:extLst>
      <p:ext uri="{BB962C8B-B14F-4D97-AF65-F5344CB8AC3E}">
        <p14:creationId xmlns:p14="http://schemas.microsoft.com/office/powerpoint/2010/main" val="4053285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DED8B-A357-4C8A-94AD-16FF62190210}"/>
              </a:ext>
            </a:extLst>
          </p:cNvPr>
          <p:cNvSpPr>
            <a:spLocks noGrp="1"/>
          </p:cNvSpPr>
          <p:nvPr>
            <p:ph type="ctrTitle"/>
          </p:nvPr>
        </p:nvSpPr>
        <p:spPr/>
        <p:txBody>
          <a:bodyPr/>
          <a:lstStyle/>
          <a:p>
            <a:pPr marR="0" rtl="0"/>
            <a:r>
              <a:rPr lang="en-GB" b="1" i="0" u="none" strike="noStrike" baseline="0">
                <a:solidFill>
                  <a:srgbClr val="365F91"/>
                </a:solidFill>
                <a:latin typeface="Times New Roman" panose="02020603050405020304" pitchFamily="18" charset="0"/>
              </a:rPr>
              <a:t>Record keeping</a:t>
            </a:r>
          </a:p>
        </p:txBody>
      </p:sp>
      <p:sp>
        <p:nvSpPr>
          <p:cNvPr id="4" name="Subtitle 3">
            <a:extLst>
              <a:ext uri="{FF2B5EF4-FFF2-40B4-BE49-F238E27FC236}">
                <a16:creationId xmlns:a16="http://schemas.microsoft.com/office/drawing/2014/main" id="{E1E24800-B4FF-4A75-8E40-31C7E12D4E59}"/>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169176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99E1C-CFDA-4CA5-B124-AD8289EDCF55}"/>
              </a:ext>
            </a:extLst>
          </p:cNvPr>
          <p:cNvSpPr>
            <a:spLocks noGrp="1"/>
          </p:cNvSpPr>
          <p:nvPr>
            <p:ph type="title"/>
          </p:nvPr>
        </p:nvSpPr>
        <p:spPr/>
        <p:txBody>
          <a:bodyPr/>
          <a:lstStyle/>
          <a:p>
            <a:r>
              <a:rPr lang="en-GB"/>
              <a:t>Welcome</a:t>
            </a:r>
          </a:p>
        </p:txBody>
      </p:sp>
      <p:sp>
        <p:nvSpPr>
          <p:cNvPr id="7" name="Content Placeholder 6">
            <a:extLst>
              <a:ext uri="{FF2B5EF4-FFF2-40B4-BE49-F238E27FC236}">
                <a16:creationId xmlns:a16="http://schemas.microsoft.com/office/drawing/2014/main" id="{E12DFD83-8A98-42D8-9A6E-67A2829A455D}"/>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174221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45D0D-C12D-4796-AF04-A514E0C7F18D}"/>
              </a:ext>
            </a:extLst>
          </p:cNvPr>
          <p:cNvSpPr>
            <a:spLocks noGrp="1"/>
          </p:cNvSpPr>
          <p:nvPr>
            <p:ph type="title"/>
          </p:nvPr>
        </p:nvSpPr>
        <p:spPr/>
        <p:txBody>
          <a:bodyPr/>
          <a:lstStyle/>
          <a:p>
            <a:r>
              <a:rPr lang="en-GB"/>
              <a:t>Introduction</a:t>
            </a:r>
          </a:p>
        </p:txBody>
      </p:sp>
      <p:sp>
        <p:nvSpPr>
          <p:cNvPr id="3" name="Text Placeholder 2">
            <a:extLst>
              <a:ext uri="{FF2B5EF4-FFF2-40B4-BE49-F238E27FC236}">
                <a16:creationId xmlns:a16="http://schemas.microsoft.com/office/drawing/2014/main" id="{165F7ADC-A302-47D0-8609-69AC5CD52834}"/>
              </a:ext>
            </a:extLst>
          </p:cNvPr>
          <p:cNvSpPr>
            <a:spLocks noGrp="1"/>
          </p:cNvSpPr>
          <p:nvPr>
            <p:ph idx="1"/>
          </p:nvPr>
        </p:nvSpPr>
        <p:spPr/>
        <p:txBody>
          <a:bodyPr>
            <a:normAutofit fontScale="92500"/>
          </a:bodyPr>
          <a:lstStyle/>
          <a:p>
            <a:r>
              <a:rPr lang="en-GB"/>
              <a:t>According to the latest survey by Dental Protection, 89% of dentists are increasingly fearful of being sued. And in response Raj Rattan, Dental Director at Dental Protection has said “without proper consent and comprehensive, well organised records a dentist will be severely disadvantaged in defending any allegations that may surface at a later date.</a:t>
            </a:r>
          </a:p>
          <a:p>
            <a:r>
              <a:rPr lang="en-GB"/>
              <a:t>What does this mean? Well whomever we are and where ever we work, record keeping affects us all</a:t>
            </a:r>
          </a:p>
          <a:p>
            <a:r>
              <a:rPr lang="en-GB"/>
              <a:t>My name is Greg Pierre and I am the co-founder of Surell solutions and we help improve dentists write better notes through the use of tailored software. Today I want to give you a presentation on record keeping.</a:t>
            </a:r>
            <a:endParaRPr lang="en-GB" dirty="0"/>
          </a:p>
        </p:txBody>
      </p:sp>
    </p:spTree>
    <p:extLst>
      <p:ext uri="{BB962C8B-B14F-4D97-AF65-F5344CB8AC3E}">
        <p14:creationId xmlns:p14="http://schemas.microsoft.com/office/powerpoint/2010/main" val="725173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9BAC2-7195-4082-92A9-9BD1E1B17638}"/>
              </a:ext>
            </a:extLst>
          </p:cNvPr>
          <p:cNvSpPr>
            <a:spLocks noGrp="1"/>
          </p:cNvSpPr>
          <p:nvPr>
            <p:ph type="title"/>
          </p:nvPr>
        </p:nvSpPr>
        <p:spPr/>
        <p:txBody>
          <a:bodyPr/>
          <a:lstStyle/>
          <a:p>
            <a:r>
              <a:rPr lang="en-GB"/>
              <a:t>Learning Summary</a:t>
            </a:r>
          </a:p>
        </p:txBody>
      </p:sp>
      <p:sp>
        <p:nvSpPr>
          <p:cNvPr id="3" name="Text Placeholder 2">
            <a:extLst>
              <a:ext uri="{FF2B5EF4-FFF2-40B4-BE49-F238E27FC236}">
                <a16:creationId xmlns:a16="http://schemas.microsoft.com/office/drawing/2014/main" id="{C0E4FA54-4607-4721-B6D4-4B8FC98E9921}"/>
              </a:ext>
            </a:extLst>
          </p:cNvPr>
          <p:cNvSpPr>
            <a:spLocks noGrp="1"/>
          </p:cNvSpPr>
          <p:nvPr>
            <p:ph idx="1"/>
          </p:nvPr>
        </p:nvSpPr>
        <p:spPr/>
        <p:txBody>
          <a:bodyPr>
            <a:normAutofit fontScale="77500" lnSpcReduction="20000"/>
          </a:bodyPr>
          <a:lstStyle/>
          <a:p>
            <a:pPr lvl="0"/>
            <a:r>
              <a:rPr lang="en-GB"/>
              <a:t>AIM</a:t>
            </a:r>
          </a:p>
          <a:p>
            <a:pPr lvl="1"/>
            <a:r>
              <a:rPr lang="en-GB"/>
              <a:t>The aim of this course is to allow users to develop (/or refresh) their professional knowledge, understanding and competency in the field of record keeping.</a:t>
            </a:r>
          </a:p>
          <a:p>
            <a:pPr lvl="0"/>
            <a:r>
              <a:rPr lang="en-GB"/>
              <a:t>OBJECTIVE </a:t>
            </a:r>
          </a:p>
          <a:p>
            <a:pPr lvl="1"/>
            <a:r>
              <a:rPr lang="en-GB"/>
              <a:t>Update the dental professional regarding the rules and regulations relating to the writing of patient records.</a:t>
            </a:r>
          </a:p>
          <a:p>
            <a:pPr lvl="0"/>
            <a:r>
              <a:rPr lang="en-GB"/>
              <a:t>OUTCOMES</a:t>
            </a:r>
          </a:p>
          <a:p>
            <a:pPr lvl="1"/>
            <a:r>
              <a:rPr lang="en-GB"/>
              <a:t>On completion you will understand:</a:t>
            </a:r>
          </a:p>
          <a:p>
            <a:pPr lvl="1"/>
            <a:r>
              <a:rPr lang="en-GB"/>
              <a:t>what constitutes a patient record</a:t>
            </a:r>
          </a:p>
          <a:p>
            <a:pPr lvl="1"/>
            <a:r>
              <a:rPr lang="en-GB"/>
              <a:t>what factors are needed to make good quality patient records consistently</a:t>
            </a:r>
          </a:p>
          <a:p>
            <a:pPr lvl="1"/>
            <a:r>
              <a:rPr lang="en-GB"/>
              <a:t>why record keeping is so important</a:t>
            </a:r>
          </a:p>
          <a:p>
            <a:pPr lvl="1"/>
            <a:r>
              <a:rPr lang="en-GB"/>
              <a:t>the golden rules regarding record keeping</a:t>
            </a:r>
          </a:p>
          <a:p>
            <a:pPr lvl="1"/>
            <a:r>
              <a:rPr lang="en-GB"/>
              <a:t>the construct of what information is needed in a top quality patient record for an adult examination</a:t>
            </a:r>
          </a:p>
          <a:p>
            <a:pPr lvl="1"/>
            <a:r>
              <a:rPr lang="en-GB"/>
              <a:t>best practice for errors whilst writing your patient records</a:t>
            </a:r>
          </a:p>
          <a:p>
            <a:pPr lvl="1"/>
            <a:r>
              <a:rPr lang="en-GB"/>
              <a:t>the importance of regular record keeping audits</a:t>
            </a:r>
            <a:endParaRPr lang="en-GB" dirty="0"/>
          </a:p>
        </p:txBody>
      </p:sp>
    </p:spTree>
    <p:extLst>
      <p:ext uri="{BB962C8B-B14F-4D97-AF65-F5344CB8AC3E}">
        <p14:creationId xmlns:p14="http://schemas.microsoft.com/office/powerpoint/2010/main" val="3561330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3F1C9-C0C3-433C-870D-DA6806195A0B}"/>
              </a:ext>
            </a:extLst>
          </p:cNvPr>
          <p:cNvSpPr>
            <a:spLocks noGrp="1"/>
          </p:cNvSpPr>
          <p:nvPr>
            <p:ph type="title"/>
          </p:nvPr>
        </p:nvSpPr>
        <p:spPr/>
        <p:txBody>
          <a:bodyPr/>
          <a:lstStyle/>
          <a:p>
            <a:r>
              <a:rPr lang="en-GB"/>
              <a:t>Poll</a:t>
            </a:r>
            <a:endParaRPr lang="en-GB" dirty="0"/>
          </a:p>
        </p:txBody>
      </p:sp>
      <p:sp>
        <p:nvSpPr>
          <p:cNvPr id="3" name="Content Placeholder 2">
            <a:extLst>
              <a:ext uri="{FF2B5EF4-FFF2-40B4-BE49-F238E27FC236}">
                <a16:creationId xmlns:a16="http://schemas.microsoft.com/office/drawing/2014/main" id="{8FBB6D94-0906-4AD4-9CBA-86E72973E9D8}"/>
              </a:ext>
            </a:extLst>
          </p:cNvPr>
          <p:cNvSpPr>
            <a:spLocks noGrp="1"/>
          </p:cNvSpPr>
          <p:nvPr>
            <p:ph idx="1"/>
          </p:nvPr>
        </p:nvSpPr>
        <p:spPr/>
        <p:txBody>
          <a:bodyPr/>
          <a:lstStyle/>
          <a:p>
            <a:r>
              <a:rPr lang="en-GB"/>
              <a:t>As a profession are we generally good at record keeping or bad? </a:t>
            </a:r>
          </a:p>
          <a:p>
            <a:pPr lvl="1"/>
            <a:r>
              <a:rPr lang="en-GB"/>
              <a:t>GOOD</a:t>
            </a:r>
          </a:p>
          <a:p>
            <a:pPr lvl="1"/>
            <a:r>
              <a:rPr lang="en-GB"/>
              <a:t>BAD </a:t>
            </a:r>
            <a:endParaRPr lang="en-GB" dirty="0"/>
          </a:p>
        </p:txBody>
      </p:sp>
    </p:spTree>
    <p:extLst>
      <p:ext uri="{BB962C8B-B14F-4D97-AF65-F5344CB8AC3E}">
        <p14:creationId xmlns:p14="http://schemas.microsoft.com/office/powerpoint/2010/main" val="3576928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32C91-80A8-470A-A733-61BF77684FCD}"/>
              </a:ext>
            </a:extLst>
          </p:cNvPr>
          <p:cNvSpPr>
            <a:spLocks noGrp="1"/>
          </p:cNvSpPr>
          <p:nvPr>
            <p:ph type="title"/>
          </p:nvPr>
        </p:nvSpPr>
        <p:spPr/>
        <p:txBody>
          <a:bodyPr/>
          <a:lstStyle/>
          <a:p>
            <a:r>
              <a:rPr lang="en-GB"/>
              <a:t>Poll</a:t>
            </a:r>
          </a:p>
        </p:txBody>
      </p:sp>
      <p:sp>
        <p:nvSpPr>
          <p:cNvPr id="3" name="Text Placeholder 2">
            <a:extLst>
              <a:ext uri="{FF2B5EF4-FFF2-40B4-BE49-F238E27FC236}">
                <a16:creationId xmlns:a16="http://schemas.microsoft.com/office/drawing/2014/main" id="{BE042579-372E-4223-AF2F-C86AA7955EFD}"/>
              </a:ext>
            </a:extLst>
          </p:cNvPr>
          <p:cNvSpPr>
            <a:spLocks noGrp="1"/>
          </p:cNvSpPr>
          <p:nvPr>
            <p:ph idx="1"/>
          </p:nvPr>
        </p:nvSpPr>
        <p:spPr/>
        <p:txBody>
          <a:bodyPr/>
          <a:lstStyle/>
          <a:p>
            <a:r>
              <a:rPr lang="en-GB"/>
              <a:t>The GDC annual reports show that for the past few years when concerning ourselves with patient records, allegations or charges raised against a registrants fitness to practice within a case or hearing have commonly been seen in position:</a:t>
            </a:r>
          </a:p>
          <a:p>
            <a:pPr lvl="1"/>
            <a:r>
              <a:rPr lang="en-GB"/>
              <a:t>1</a:t>
            </a:r>
          </a:p>
          <a:p>
            <a:pPr lvl="1"/>
            <a:r>
              <a:rPr lang="en-GB"/>
              <a:t>2</a:t>
            </a:r>
          </a:p>
          <a:p>
            <a:pPr lvl="1"/>
            <a:r>
              <a:rPr lang="en-GB"/>
              <a:t>3</a:t>
            </a:r>
          </a:p>
          <a:p>
            <a:pPr lvl="1"/>
            <a:r>
              <a:rPr lang="en-GB"/>
              <a:t>4</a:t>
            </a:r>
            <a:endParaRPr lang="en-GB" dirty="0"/>
          </a:p>
        </p:txBody>
      </p:sp>
    </p:spTree>
    <p:extLst>
      <p:ext uri="{BB962C8B-B14F-4D97-AF65-F5344CB8AC3E}">
        <p14:creationId xmlns:p14="http://schemas.microsoft.com/office/powerpoint/2010/main" val="2944939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2E302-97FF-4A61-AD41-F2A23FFE0687}"/>
              </a:ext>
            </a:extLst>
          </p:cNvPr>
          <p:cNvSpPr>
            <a:spLocks noGrp="1"/>
          </p:cNvSpPr>
          <p:nvPr>
            <p:ph type="title"/>
          </p:nvPr>
        </p:nvSpPr>
        <p:spPr/>
        <p:txBody>
          <a:bodyPr/>
          <a:lstStyle/>
          <a:p>
            <a:r>
              <a:rPr lang="en-GB"/>
              <a:t>Unprofessional conduct</a:t>
            </a:r>
            <a:endParaRPr lang="en-GB" dirty="0"/>
          </a:p>
        </p:txBody>
      </p:sp>
      <p:sp>
        <p:nvSpPr>
          <p:cNvPr id="3" name="Text Placeholder 2">
            <a:extLst>
              <a:ext uri="{FF2B5EF4-FFF2-40B4-BE49-F238E27FC236}">
                <a16:creationId xmlns:a16="http://schemas.microsoft.com/office/drawing/2014/main" id="{B638FE50-D56C-4FD5-9C3B-02AE8CE4FF68}"/>
              </a:ext>
            </a:extLst>
          </p:cNvPr>
          <p:cNvSpPr>
            <a:spLocks noGrp="1"/>
          </p:cNvSpPr>
          <p:nvPr>
            <p:ph idx="1"/>
          </p:nvPr>
        </p:nvSpPr>
        <p:spPr/>
        <p:txBody>
          <a:bodyPr/>
          <a:lstStyle/>
          <a:p>
            <a:r>
              <a:rPr lang="en-GB"/>
              <a:t>Brown (2015) stated “complaints and notifications specific to record keeping accounted for less than 2% of formal complaints, but 75% of recent cases made a finding of unprofessional conduct against a dentist, on the basis of inadequate record keeping (usually in combination with other breaches of conduct).” So from this we can deduce that the quality of the patient records became part of the problem as the complaint progresses.</a:t>
            </a:r>
            <a:endParaRPr lang="en-GB" dirty="0"/>
          </a:p>
        </p:txBody>
      </p:sp>
    </p:spTree>
    <p:extLst>
      <p:ext uri="{BB962C8B-B14F-4D97-AF65-F5344CB8AC3E}">
        <p14:creationId xmlns:p14="http://schemas.microsoft.com/office/powerpoint/2010/main" val="4290574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D98BC-5FA1-4558-A2B9-BB8BBED9A3AD}"/>
              </a:ext>
            </a:extLst>
          </p:cNvPr>
          <p:cNvSpPr>
            <a:spLocks noGrp="1"/>
          </p:cNvSpPr>
          <p:nvPr>
            <p:ph type="title"/>
          </p:nvPr>
        </p:nvSpPr>
        <p:spPr/>
        <p:txBody>
          <a:bodyPr/>
          <a:lstStyle/>
          <a:p>
            <a:r>
              <a:rPr lang="en-GB"/>
              <a:t>Poll</a:t>
            </a:r>
            <a:endParaRPr lang="en-GB" dirty="0"/>
          </a:p>
        </p:txBody>
      </p:sp>
      <p:sp>
        <p:nvSpPr>
          <p:cNvPr id="3" name="Text Placeholder 2">
            <a:extLst>
              <a:ext uri="{FF2B5EF4-FFF2-40B4-BE49-F238E27FC236}">
                <a16:creationId xmlns:a16="http://schemas.microsoft.com/office/drawing/2014/main" id="{A16E4D34-E979-4B7D-9241-A587C317AD5C}"/>
              </a:ext>
            </a:extLst>
          </p:cNvPr>
          <p:cNvSpPr>
            <a:spLocks noGrp="1"/>
          </p:cNvSpPr>
          <p:nvPr>
            <p:ph idx="1"/>
          </p:nvPr>
        </p:nvSpPr>
        <p:spPr/>
        <p:txBody>
          <a:bodyPr>
            <a:normAutofit lnSpcReduction="10000"/>
          </a:bodyPr>
          <a:lstStyle/>
          <a:p>
            <a:r>
              <a:rPr lang="en-GB"/>
              <a:t>Why are we so “poor” at writing our patient records?</a:t>
            </a:r>
          </a:p>
          <a:p>
            <a:pPr lvl="1"/>
            <a:r>
              <a:rPr lang="en-GB"/>
              <a:t>Most commonly </a:t>
            </a:r>
          </a:p>
          <a:p>
            <a:pPr lvl="1"/>
            <a:r>
              <a:rPr lang="en-GB"/>
              <a:t>Not important </a:t>
            </a:r>
          </a:p>
          <a:p>
            <a:pPr lvl="1"/>
            <a:r>
              <a:rPr lang="en-GB"/>
              <a:t>Not my responsibility </a:t>
            </a:r>
          </a:p>
          <a:p>
            <a:pPr lvl="1"/>
            <a:r>
              <a:rPr lang="en-GB"/>
              <a:t>Lack of time</a:t>
            </a:r>
          </a:p>
          <a:p>
            <a:pPr lvl="1"/>
            <a:r>
              <a:rPr lang="en-GB"/>
              <a:t>Lack of knowledge </a:t>
            </a:r>
          </a:p>
          <a:p>
            <a:pPr lvl="1"/>
            <a:r>
              <a:rPr lang="en-GB"/>
              <a:t>Bad habits</a:t>
            </a:r>
          </a:p>
          <a:p>
            <a:pPr lvl="1"/>
            <a:r>
              <a:rPr lang="en-GB"/>
              <a:t>Stress</a:t>
            </a:r>
          </a:p>
          <a:p>
            <a:pPr lvl="1"/>
            <a:r>
              <a:rPr lang="en-GB"/>
              <a:t>Task overload</a:t>
            </a:r>
          </a:p>
          <a:p>
            <a:pPr lvl="1"/>
            <a:r>
              <a:rPr lang="en-GB"/>
              <a:t>Illness</a:t>
            </a:r>
          </a:p>
          <a:p>
            <a:pPr lvl="1"/>
            <a:r>
              <a:rPr lang="en-GB"/>
              <a:t>Poor concentration </a:t>
            </a:r>
          </a:p>
          <a:p>
            <a:pPr lvl="1"/>
            <a:r>
              <a:rPr lang="en-GB"/>
              <a:t>Poor computer system</a:t>
            </a:r>
          </a:p>
          <a:p>
            <a:endParaRPr lang="en-GB" dirty="0"/>
          </a:p>
        </p:txBody>
      </p:sp>
    </p:spTree>
    <p:extLst>
      <p:ext uri="{BB962C8B-B14F-4D97-AF65-F5344CB8AC3E}">
        <p14:creationId xmlns:p14="http://schemas.microsoft.com/office/powerpoint/2010/main" val="321540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9399C-3447-4090-BB87-AAAA75C68361}"/>
              </a:ext>
            </a:extLst>
          </p:cNvPr>
          <p:cNvSpPr>
            <a:spLocks noGrp="1"/>
          </p:cNvSpPr>
          <p:nvPr>
            <p:ph type="title"/>
          </p:nvPr>
        </p:nvSpPr>
        <p:spPr/>
        <p:txBody>
          <a:bodyPr/>
          <a:lstStyle/>
          <a:p>
            <a:r>
              <a:rPr lang="en-GB"/>
              <a:t>Focus</a:t>
            </a:r>
          </a:p>
        </p:txBody>
      </p:sp>
      <p:sp>
        <p:nvSpPr>
          <p:cNvPr id="6" name="Content Placeholder 5">
            <a:extLst>
              <a:ext uri="{FF2B5EF4-FFF2-40B4-BE49-F238E27FC236}">
                <a16:creationId xmlns:a16="http://schemas.microsoft.com/office/drawing/2014/main" id="{21C38727-057A-4645-8E42-C63D6B4F00DB}"/>
              </a:ext>
            </a:extLst>
          </p:cNvPr>
          <p:cNvSpPr>
            <a:spLocks noGrp="1"/>
          </p:cNvSpPr>
          <p:nvPr>
            <p:ph idx="1"/>
          </p:nvPr>
        </p:nvSpPr>
        <p:spPr/>
        <p:txBody>
          <a:bodyPr/>
          <a:lstStyle/>
          <a:p>
            <a:r>
              <a:rPr lang="en-GB" dirty="0"/>
              <a:t>In today’s talk we will focus upon</a:t>
            </a:r>
          </a:p>
          <a:p>
            <a:pPr lvl="1"/>
            <a:r>
              <a:rPr lang="en-GB" dirty="0"/>
              <a:t>Lack of knowledge </a:t>
            </a:r>
          </a:p>
          <a:p>
            <a:pPr lvl="1"/>
            <a:r>
              <a:rPr lang="en-GB" dirty="0"/>
              <a:t>Lack of time </a:t>
            </a:r>
          </a:p>
          <a:p>
            <a:r>
              <a:rPr lang="en-GB" dirty="0"/>
              <a:t>So let’s start at the top:</a:t>
            </a:r>
          </a:p>
          <a:p>
            <a:endParaRPr lang="en-GB" dirty="0"/>
          </a:p>
        </p:txBody>
      </p:sp>
    </p:spTree>
    <p:extLst>
      <p:ext uri="{BB962C8B-B14F-4D97-AF65-F5344CB8AC3E}">
        <p14:creationId xmlns:p14="http://schemas.microsoft.com/office/powerpoint/2010/main" val="492182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193FF-80B2-4A8E-A2E4-802F2FAF17CF}"/>
              </a:ext>
            </a:extLst>
          </p:cNvPr>
          <p:cNvSpPr>
            <a:spLocks noGrp="1"/>
          </p:cNvSpPr>
          <p:nvPr>
            <p:ph type="title"/>
          </p:nvPr>
        </p:nvSpPr>
        <p:spPr/>
        <p:txBody>
          <a:bodyPr/>
          <a:lstStyle/>
          <a:p>
            <a:r>
              <a:rPr lang="en-GB"/>
              <a:t>What are “Dental Records”?</a:t>
            </a:r>
          </a:p>
        </p:txBody>
      </p:sp>
      <p:sp>
        <p:nvSpPr>
          <p:cNvPr id="6" name="Content Placeholder 5">
            <a:extLst>
              <a:ext uri="{FF2B5EF4-FFF2-40B4-BE49-F238E27FC236}">
                <a16:creationId xmlns:a16="http://schemas.microsoft.com/office/drawing/2014/main" id="{86343E9C-7064-46D7-BD4D-D0D2F226DC01}"/>
              </a:ext>
            </a:extLst>
          </p:cNvPr>
          <p:cNvSpPr>
            <a:spLocks noGrp="1"/>
          </p:cNvSpPr>
          <p:nvPr>
            <p:ph idx="1"/>
          </p:nvPr>
        </p:nvSpPr>
        <p:spPr/>
        <p:txBody>
          <a:bodyPr>
            <a:normAutofit fontScale="85000" lnSpcReduction="20000"/>
          </a:bodyPr>
          <a:lstStyle/>
          <a:p>
            <a:r>
              <a:rPr lang="en-GB" i="1" dirty="0"/>
              <a:t>“A document that relates to the history of present illness, clinical examination, diagnosis, treatment done and the prognosis. A thorough knowledge of dental records is essential for the practicing dentist“</a:t>
            </a:r>
          </a:p>
          <a:p>
            <a:r>
              <a:rPr lang="en-GB" dirty="0"/>
              <a:t>Dental records are also needed to help guide other dentists as to the next plan of action needed, and also act as a record for not just what was done in the past but the nature of the discussions that were had.</a:t>
            </a:r>
          </a:p>
          <a:p>
            <a:r>
              <a:rPr lang="en-GB" dirty="0"/>
              <a:t>If we take for example minimally invasive dentistry, we all are fully aware that this particular approach helps to preserve pulpal health. By isolating the lesion under a sealed restoration the clinician will be judged to have adopted an effective biologically sound approach. However to the unknowing, this same tooth may seem to show recurrent decay or a failed restoration. As I hope you can see the contents of the records are key and should help guide the current dentist to the nature of the previous conversations held between the patient and the old dentist.</a:t>
            </a:r>
          </a:p>
          <a:p>
            <a:r>
              <a:rPr lang="en-GB" dirty="0"/>
              <a:t>Detailed records also help to prevent an adverse incident taking place </a:t>
            </a:r>
          </a:p>
          <a:p>
            <a:endParaRPr lang="en-GB" dirty="0"/>
          </a:p>
        </p:txBody>
      </p:sp>
    </p:spTree>
    <p:extLst>
      <p:ext uri="{BB962C8B-B14F-4D97-AF65-F5344CB8AC3E}">
        <p14:creationId xmlns:p14="http://schemas.microsoft.com/office/powerpoint/2010/main" val="993834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67425-CDF4-49C1-8727-472FB8F3AC81}"/>
              </a:ext>
            </a:extLst>
          </p:cNvPr>
          <p:cNvSpPr>
            <a:spLocks noGrp="1"/>
          </p:cNvSpPr>
          <p:nvPr>
            <p:ph type="title"/>
          </p:nvPr>
        </p:nvSpPr>
        <p:spPr/>
        <p:txBody>
          <a:bodyPr/>
          <a:lstStyle/>
          <a:p>
            <a:r>
              <a:rPr lang="en-GB"/>
              <a:t>Poll</a:t>
            </a:r>
          </a:p>
        </p:txBody>
      </p:sp>
      <p:sp>
        <p:nvSpPr>
          <p:cNvPr id="6" name="Content Placeholder 5">
            <a:extLst>
              <a:ext uri="{FF2B5EF4-FFF2-40B4-BE49-F238E27FC236}">
                <a16:creationId xmlns:a16="http://schemas.microsoft.com/office/drawing/2014/main" id="{61AA0A3E-CE3F-467A-BC6F-D7A1EA7AD8AA}"/>
              </a:ext>
            </a:extLst>
          </p:cNvPr>
          <p:cNvSpPr>
            <a:spLocks noGrp="1"/>
          </p:cNvSpPr>
          <p:nvPr>
            <p:ph idx="1"/>
          </p:nvPr>
        </p:nvSpPr>
        <p:spPr/>
        <p:txBody>
          <a:bodyPr>
            <a:normAutofit fontScale="70000" lnSpcReduction="20000"/>
          </a:bodyPr>
          <a:lstStyle/>
          <a:p>
            <a:r>
              <a:rPr lang="en-GB" dirty="0"/>
              <a:t>Which of the following components do not make dental notes? (have them all- make it a trick question).</a:t>
            </a:r>
          </a:p>
          <a:p>
            <a:pPr lvl="1"/>
            <a:r>
              <a:rPr lang="en-GB" dirty="0"/>
              <a:t>Medical, social and dental histories</a:t>
            </a:r>
          </a:p>
          <a:p>
            <a:pPr lvl="1"/>
            <a:r>
              <a:rPr lang="en-GB" dirty="0"/>
              <a:t>Personal details</a:t>
            </a:r>
          </a:p>
          <a:p>
            <a:pPr lvl="1"/>
            <a:r>
              <a:rPr lang="en-GB" dirty="0"/>
              <a:t>Clinical notes </a:t>
            </a:r>
          </a:p>
          <a:p>
            <a:pPr lvl="1"/>
            <a:r>
              <a:rPr lang="en-GB" dirty="0"/>
              <a:t>Radiographs</a:t>
            </a:r>
          </a:p>
          <a:p>
            <a:pPr lvl="1"/>
            <a:r>
              <a:rPr lang="en-GB" dirty="0"/>
              <a:t>Referrals </a:t>
            </a:r>
          </a:p>
          <a:p>
            <a:pPr lvl="1"/>
            <a:r>
              <a:rPr lang="en-GB" dirty="0"/>
              <a:t>Correspondence from any referrals made</a:t>
            </a:r>
          </a:p>
          <a:p>
            <a:pPr lvl="1"/>
            <a:r>
              <a:rPr lang="en-GB" dirty="0"/>
              <a:t>Study models</a:t>
            </a:r>
          </a:p>
          <a:p>
            <a:pPr lvl="1"/>
            <a:r>
              <a:rPr lang="en-GB" dirty="0"/>
              <a:t>Lab work</a:t>
            </a:r>
          </a:p>
          <a:p>
            <a:pPr lvl="1"/>
            <a:r>
              <a:rPr lang="en-GB" dirty="0"/>
              <a:t>Lab documentation </a:t>
            </a:r>
          </a:p>
          <a:p>
            <a:pPr lvl="1"/>
            <a:r>
              <a:rPr lang="en-GB" dirty="0"/>
              <a:t>Documentation of any conversations had where the dentist was not in the presence of the patient </a:t>
            </a:r>
            <a:r>
              <a:rPr lang="en-GB" dirty="0" err="1"/>
              <a:t>ie</a:t>
            </a:r>
            <a:r>
              <a:rPr lang="en-GB" dirty="0"/>
              <a:t> telephone conversations, emails etc</a:t>
            </a:r>
          </a:p>
          <a:p>
            <a:pPr lvl="1"/>
            <a:r>
              <a:rPr lang="en-GB" dirty="0"/>
              <a:t>Financial history </a:t>
            </a:r>
          </a:p>
          <a:p>
            <a:pPr lvl="1"/>
            <a:r>
              <a:rPr lang="en-GB" dirty="0"/>
              <a:t>Claims history </a:t>
            </a:r>
          </a:p>
          <a:p>
            <a:pPr lvl="1"/>
            <a:r>
              <a:rPr lang="en-GB" dirty="0"/>
              <a:t>If the patient is receiving any benefits</a:t>
            </a:r>
          </a:p>
          <a:p>
            <a:pPr lvl="1"/>
            <a:r>
              <a:rPr lang="en-GB" dirty="0"/>
              <a:t>Appointment history</a:t>
            </a:r>
          </a:p>
          <a:p>
            <a:endParaRPr lang="en-GB" dirty="0"/>
          </a:p>
        </p:txBody>
      </p:sp>
    </p:spTree>
    <p:extLst>
      <p:ext uri="{BB962C8B-B14F-4D97-AF65-F5344CB8AC3E}">
        <p14:creationId xmlns:p14="http://schemas.microsoft.com/office/powerpoint/2010/main" val="625399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B4749-77E3-44A8-922C-BDD6D89E4F28}"/>
              </a:ext>
            </a:extLst>
          </p:cNvPr>
          <p:cNvSpPr>
            <a:spLocks noGrp="1"/>
          </p:cNvSpPr>
          <p:nvPr>
            <p:ph type="title"/>
          </p:nvPr>
        </p:nvSpPr>
        <p:spPr/>
        <p:txBody>
          <a:bodyPr/>
          <a:lstStyle/>
          <a:p>
            <a:r>
              <a:rPr lang="en-GB"/>
              <a:t>What makes top-notch notes?</a:t>
            </a:r>
          </a:p>
        </p:txBody>
      </p:sp>
      <p:sp>
        <p:nvSpPr>
          <p:cNvPr id="6" name="Content Placeholder 5">
            <a:extLst>
              <a:ext uri="{FF2B5EF4-FFF2-40B4-BE49-F238E27FC236}">
                <a16:creationId xmlns:a16="http://schemas.microsoft.com/office/drawing/2014/main" id="{010665E4-E368-4E8E-B80D-6BFC1B43A3DD}"/>
              </a:ext>
            </a:extLst>
          </p:cNvPr>
          <p:cNvSpPr>
            <a:spLocks noGrp="1"/>
          </p:cNvSpPr>
          <p:nvPr>
            <p:ph idx="1"/>
          </p:nvPr>
        </p:nvSpPr>
        <p:spPr/>
        <p:txBody>
          <a:bodyPr>
            <a:normAutofit fontScale="55000" lnSpcReduction="20000"/>
          </a:bodyPr>
          <a:lstStyle/>
          <a:p>
            <a:r>
              <a:rPr lang="en-GB" dirty="0"/>
              <a:t>Factors that are needed to make top quality dental notes:</a:t>
            </a:r>
          </a:p>
          <a:p>
            <a:pPr lvl="0"/>
            <a:r>
              <a:rPr lang="en-GB" dirty="0"/>
              <a:t>Contemporaneous</a:t>
            </a:r>
          </a:p>
          <a:p>
            <a:pPr lvl="0"/>
            <a:r>
              <a:rPr lang="en-GB" dirty="0"/>
              <a:t>Treatment options available including the specific advantages and disadvantages that were discussed </a:t>
            </a:r>
          </a:p>
          <a:p>
            <a:pPr lvl="0"/>
            <a:r>
              <a:rPr lang="en-GB" dirty="0"/>
              <a:t>Advice as to recommended treatment</a:t>
            </a:r>
          </a:p>
          <a:p>
            <a:pPr lvl="0"/>
            <a:r>
              <a:rPr lang="en-GB" dirty="0"/>
              <a:t>Recommendations made- </a:t>
            </a:r>
            <a:r>
              <a:rPr lang="en-GB" dirty="0" err="1"/>
              <a:t>ie</a:t>
            </a:r>
            <a:r>
              <a:rPr lang="en-GB" dirty="0"/>
              <a:t> it’s not good enough for you to give the options and let the patient decide you must offer a little guidance in this matter stating your reasons</a:t>
            </a:r>
          </a:p>
          <a:p>
            <a:pPr lvl="0"/>
            <a:r>
              <a:rPr lang="en-GB" dirty="0"/>
              <a:t>Recording of decisions jointly made including patient consent</a:t>
            </a:r>
          </a:p>
          <a:p>
            <a:pPr lvl="0"/>
            <a:r>
              <a:rPr lang="en-GB" dirty="0"/>
              <a:t>Follow up plans </a:t>
            </a:r>
          </a:p>
          <a:p>
            <a:pPr lvl="0"/>
            <a:r>
              <a:rPr lang="en-GB" dirty="0"/>
              <a:t>Important patient questions answered by the dentist</a:t>
            </a:r>
          </a:p>
          <a:p>
            <a:pPr lvl="0"/>
            <a:r>
              <a:rPr lang="en-GB" dirty="0"/>
              <a:t>Fees</a:t>
            </a:r>
          </a:p>
          <a:p>
            <a:r>
              <a:rPr lang="en-GB" dirty="0"/>
              <a:t>The word contemporaneous is defined as existing at or occurring in the same period of time. </a:t>
            </a:r>
          </a:p>
          <a:p>
            <a:r>
              <a:rPr lang="en-GB" dirty="0"/>
              <a:t>So in dental terms this could mean notes being written ideally with the patient in the chair or as soon as possible after the appointment ideally within the following hour.</a:t>
            </a:r>
          </a:p>
          <a:p>
            <a:r>
              <a:rPr lang="en-GB" dirty="0"/>
              <a:t>Notes that are written at the end of the day or even a few days later are seen to have a higher risk of inaccuracy, so it is best practice for the notes to be ideally written when the patient is in the surgery.</a:t>
            </a:r>
          </a:p>
          <a:p>
            <a:r>
              <a:rPr lang="en-GB" dirty="0"/>
              <a:t>It must also be remembered that the patient record provides a basis for any referral or lab work. So because of the varied parameters, the information stored must be clear.</a:t>
            </a:r>
          </a:p>
        </p:txBody>
      </p:sp>
    </p:spTree>
    <p:extLst>
      <p:ext uri="{BB962C8B-B14F-4D97-AF65-F5344CB8AC3E}">
        <p14:creationId xmlns:p14="http://schemas.microsoft.com/office/powerpoint/2010/main" val="2014034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14491-1C94-4BBE-93AB-3BFD140A0EA2}"/>
              </a:ext>
            </a:extLst>
          </p:cNvPr>
          <p:cNvSpPr>
            <a:spLocks noGrp="1"/>
          </p:cNvSpPr>
          <p:nvPr>
            <p:ph type="title"/>
          </p:nvPr>
        </p:nvSpPr>
        <p:spPr/>
        <p:txBody>
          <a:bodyPr/>
          <a:lstStyle/>
          <a:p>
            <a:r>
              <a:rPr lang="en-GB"/>
              <a:t>Complaints</a:t>
            </a:r>
          </a:p>
        </p:txBody>
      </p:sp>
      <p:sp>
        <p:nvSpPr>
          <p:cNvPr id="6" name="Content Placeholder 5">
            <a:extLst>
              <a:ext uri="{FF2B5EF4-FFF2-40B4-BE49-F238E27FC236}">
                <a16:creationId xmlns:a16="http://schemas.microsoft.com/office/drawing/2014/main" id="{3F2D1B90-72A6-4C84-AEEF-F82A781B0D8A}"/>
              </a:ext>
            </a:extLst>
          </p:cNvPr>
          <p:cNvSpPr>
            <a:spLocks noGrp="1"/>
          </p:cNvSpPr>
          <p:nvPr>
            <p:ph idx="1"/>
          </p:nvPr>
        </p:nvSpPr>
        <p:spPr/>
        <p:txBody>
          <a:bodyPr/>
          <a:lstStyle/>
          <a:p>
            <a:r>
              <a:rPr lang="en-GB" dirty="0"/>
              <a:t>In the event of a complaint your documentation could also be requested by several other parties including the:</a:t>
            </a:r>
          </a:p>
          <a:p>
            <a:pPr lvl="1"/>
            <a:r>
              <a:rPr lang="en-GB" dirty="0"/>
              <a:t>Patient</a:t>
            </a:r>
          </a:p>
          <a:p>
            <a:pPr lvl="1"/>
            <a:r>
              <a:rPr lang="en-GB" dirty="0"/>
              <a:t>Lawyers</a:t>
            </a:r>
          </a:p>
          <a:p>
            <a:pPr lvl="1"/>
            <a:r>
              <a:rPr lang="en-GB" dirty="0"/>
              <a:t>GDC (pictures of each)</a:t>
            </a:r>
          </a:p>
          <a:p>
            <a:r>
              <a:rPr lang="en-GB" dirty="0"/>
              <a:t>So because of this, it is of the utmost importance that one’s record keeping standards remain as high as possible.</a:t>
            </a:r>
          </a:p>
        </p:txBody>
      </p:sp>
    </p:spTree>
    <p:extLst>
      <p:ext uri="{BB962C8B-B14F-4D97-AF65-F5344CB8AC3E}">
        <p14:creationId xmlns:p14="http://schemas.microsoft.com/office/powerpoint/2010/main" val="3827023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2BA7E-33FC-4FE6-9FDF-6290D7CFF047}"/>
              </a:ext>
            </a:extLst>
          </p:cNvPr>
          <p:cNvSpPr>
            <a:spLocks noGrp="1"/>
          </p:cNvSpPr>
          <p:nvPr>
            <p:ph type="title"/>
          </p:nvPr>
        </p:nvSpPr>
        <p:spPr/>
        <p:txBody>
          <a:bodyPr/>
          <a:lstStyle/>
          <a:p>
            <a:r>
              <a:rPr lang="en-GB" b="1" dirty="0"/>
              <a:t>Golden Rules</a:t>
            </a:r>
            <a:endParaRPr lang="en-GB" dirty="0"/>
          </a:p>
        </p:txBody>
      </p:sp>
      <p:sp>
        <p:nvSpPr>
          <p:cNvPr id="6" name="Content Placeholder 5">
            <a:extLst>
              <a:ext uri="{FF2B5EF4-FFF2-40B4-BE49-F238E27FC236}">
                <a16:creationId xmlns:a16="http://schemas.microsoft.com/office/drawing/2014/main" id="{BC9DC5A6-2F8D-4834-9108-34E125F7350E}"/>
              </a:ext>
            </a:extLst>
          </p:cNvPr>
          <p:cNvSpPr>
            <a:spLocks noGrp="1"/>
          </p:cNvSpPr>
          <p:nvPr>
            <p:ph idx="1"/>
          </p:nvPr>
        </p:nvSpPr>
        <p:spPr/>
        <p:txBody>
          <a:bodyPr/>
          <a:lstStyle/>
          <a:p>
            <a:r>
              <a:rPr lang="en-GB" dirty="0"/>
              <a:t>The two golden rules of record keeping: </a:t>
            </a:r>
          </a:p>
          <a:p>
            <a:pPr lvl="1"/>
            <a:r>
              <a:rPr lang="en-GB" dirty="0"/>
              <a:t>If it isn’t in the notes it didn’t happen </a:t>
            </a:r>
          </a:p>
          <a:p>
            <a:pPr lvl="1"/>
            <a:r>
              <a:rPr lang="en-GB" dirty="0"/>
              <a:t>The more detail the better.</a:t>
            </a:r>
          </a:p>
        </p:txBody>
      </p:sp>
    </p:spTree>
    <p:extLst>
      <p:ext uri="{BB962C8B-B14F-4D97-AF65-F5344CB8AC3E}">
        <p14:creationId xmlns:p14="http://schemas.microsoft.com/office/powerpoint/2010/main" val="1520363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90C5E-8952-411A-9B36-787C699B520F}"/>
              </a:ext>
            </a:extLst>
          </p:cNvPr>
          <p:cNvSpPr>
            <a:spLocks noGrp="1"/>
          </p:cNvSpPr>
          <p:nvPr>
            <p:ph type="title"/>
          </p:nvPr>
        </p:nvSpPr>
        <p:spPr/>
        <p:txBody>
          <a:bodyPr/>
          <a:lstStyle/>
          <a:p>
            <a:r>
              <a:rPr lang="en-GB"/>
              <a:t>Structure</a:t>
            </a:r>
          </a:p>
        </p:txBody>
      </p:sp>
      <p:sp>
        <p:nvSpPr>
          <p:cNvPr id="3" name="Text Placeholder 2">
            <a:extLst>
              <a:ext uri="{FF2B5EF4-FFF2-40B4-BE49-F238E27FC236}">
                <a16:creationId xmlns:a16="http://schemas.microsoft.com/office/drawing/2014/main" id="{A1D4578B-3A7E-4299-88AB-76F7DB863944}"/>
              </a:ext>
            </a:extLst>
          </p:cNvPr>
          <p:cNvSpPr>
            <a:spLocks noGrp="1"/>
          </p:cNvSpPr>
          <p:nvPr>
            <p:ph idx="1"/>
          </p:nvPr>
        </p:nvSpPr>
        <p:spPr/>
        <p:txBody>
          <a:bodyPr/>
          <a:lstStyle/>
          <a:p>
            <a:r>
              <a:rPr lang="en-GB" dirty="0"/>
              <a:t>When writing notes, structure is key. Please see an example of what should be included in a set of notes</a:t>
            </a:r>
          </a:p>
        </p:txBody>
      </p:sp>
    </p:spTree>
    <p:extLst>
      <p:ext uri="{BB962C8B-B14F-4D97-AF65-F5344CB8AC3E}">
        <p14:creationId xmlns:p14="http://schemas.microsoft.com/office/powerpoint/2010/main" val="1506413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FF2BB-BA37-4314-A8D0-178004CEE71F}"/>
              </a:ext>
            </a:extLst>
          </p:cNvPr>
          <p:cNvSpPr>
            <a:spLocks noGrp="1"/>
          </p:cNvSpPr>
          <p:nvPr>
            <p:ph type="title"/>
          </p:nvPr>
        </p:nvSpPr>
        <p:spPr/>
        <p:txBody>
          <a:bodyPr/>
          <a:lstStyle/>
          <a:p>
            <a:r>
              <a:rPr lang="en-GB" b="1" dirty="0"/>
              <a:t>Adult examination</a:t>
            </a:r>
            <a:endParaRPr lang="en-GB" dirty="0"/>
          </a:p>
        </p:txBody>
      </p:sp>
      <p:sp>
        <p:nvSpPr>
          <p:cNvPr id="3" name="Content Placeholder 2">
            <a:extLst>
              <a:ext uri="{FF2B5EF4-FFF2-40B4-BE49-F238E27FC236}">
                <a16:creationId xmlns:a16="http://schemas.microsoft.com/office/drawing/2014/main" id="{976DBC80-DEF2-4E3B-B377-158BB981373B}"/>
              </a:ext>
            </a:extLst>
          </p:cNvPr>
          <p:cNvSpPr>
            <a:spLocks noGrp="1"/>
          </p:cNvSpPr>
          <p:nvPr>
            <p:ph idx="1"/>
          </p:nvPr>
        </p:nvSpPr>
        <p:spPr/>
        <p:txBody>
          <a:bodyPr>
            <a:normAutofit fontScale="62500" lnSpcReduction="20000"/>
          </a:bodyPr>
          <a:lstStyle/>
          <a:p>
            <a:pPr lvl="0"/>
            <a:r>
              <a:rPr lang="en-GB" dirty="0"/>
              <a:t>HISTORY: this section focuses upon problems and concerns from the patient including any expectations. It is a key fact finding section of the appointment. </a:t>
            </a:r>
          </a:p>
          <a:p>
            <a:pPr lvl="0"/>
            <a:r>
              <a:rPr lang="en-GB" dirty="0"/>
              <a:t>EXTRA ORAL EXAMINATION: looking at the structures around the mouth including TMJ, Lymphadenopathy, and muscles of mastication for example </a:t>
            </a:r>
          </a:p>
          <a:p>
            <a:pPr lvl="0"/>
            <a:r>
              <a:rPr lang="en-GB" dirty="0"/>
              <a:t>INTRA ORAL EXAMINATION: looking at the structures in the mouth including both soft and hard tissues. As a rule of thumb, please do not forget to carry out an oral cancer screen on each patient.</a:t>
            </a:r>
          </a:p>
          <a:p>
            <a:pPr lvl="0"/>
            <a:r>
              <a:rPr lang="en-GB" dirty="0"/>
              <a:t>INVESTIGATION- what investigations did you carry out and more importantly what were your findings</a:t>
            </a:r>
          </a:p>
          <a:p>
            <a:pPr lvl="0"/>
            <a:r>
              <a:rPr lang="en-GB" dirty="0"/>
              <a:t>DIAGNOSIS- what conclusions did you come to from the results of your findings.</a:t>
            </a:r>
          </a:p>
          <a:p>
            <a:pPr lvl="0"/>
            <a:r>
              <a:rPr lang="en-GB" dirty="0"/>
              <a:t>TREATMENT PLAN- based on the diagnosis reached, what were the options given. Time must be spent going into the advantages and disadvantages of each option along with whether the treatment is NHS or private, their cost and the nature of the procedures including the number of appointments and the timings of each appointment. </a:t>
            </a:r>
          </a:p>
          <a:p>
            <a:pPr lvl="0"/>
            <a:r>
              <a:rPr lang="en-GB" dirty="0"/>
              <a:t>CONSENT- once all of the above is given, Valid consent can be achieved.</a:t>
            </a:r>
          </a:p>
          <a:p>
            <a:r>
              <a:rPr lang="en-GB" dirty="0"/>
              <a:t>It is gold practice to have this updated with each and every appointment.</a:t>
            </a:r>
          </a:p>
          <a:p>
            <a:r>
              <a:rPr lang="en-GB" dirty="0"/>
              <a:t>By setting your patient examination records up in this way or similar will help create a firm foundation for success with future appointments.</a:t>
            </a:r>
          </a:p>
          <a:p>
            <a:endParaRPr lang="en-GB" dirty="0"/>
          </a:p>
        </p:txBody>
      </p:sp>
    </p:spTree>
    <p:extLst>
      <p:ext uri="{BB962C8B-B14F-4D97-AF65-F5344CB8AC3E}">
        <p14:creationId xmlns:p14="http://schemas.microsoft.com/office/powerpoint/2010/main" val="2294512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8F80D-7790-40DD-A31A-ECEFBE98F1E9}"/>
              </a:ext>
            </a:extLst>
          </p:cNvPr>
          <p:cNvSpPr>
            <a:spLocks noGrp="1"/>
          </p:cNvSpPr>
          <p:nvPr>
            <p:ph type="title"/>
          </p:nvPr>
        </p:nvSpPr>
        <p:spPr/>
        <p:txBody>
          <a:bodyPr/>
          <a:lstStyle/>
          <a:p>
            <a:r>
              <a:rPr lang="en-GB" dirty="0"/>
              <a:t>Restoration </a:t>
            </a:r>
          </a:p>
        </p:txBody>
      </p:sp>
      <p:sp>
        <p:nvSpPr>
          <p:cNvPr id="3" name="Text Placeholder 2">
            <a:extLst>
              <a:ext uri="{FF2B5EF4-FFF2-40B4-BE49-F238E27FC236}">
                <a16:creationId xmlns:a16="http://schemas.microsoft.com/office/drawing/2014/main" id="{76DB6FE4-B2F1-4254-A801-9D60B1BB53F3}"/>
              </a:ext>
            </a:extLst>
          </p:cNvPr>
          <p:cNvSpPr>
            <a:spLocks noGrp="1"/>
          </p:cNvSpPr>
          <p:nvPr>
            <p:ph idx="1"/>
          </p:nvPr>
        </p:nvSpPr>
        <p:spPr/>
        <p:txBody>
          <a:bodyPr>
            <a:normAutofit/>
          </a:bodyPr>
          <a:lstStyle/>
          <a:p>
            <a:pPr lvl="0"/>
            <a:r>
              <a:rPr lang="en-GB" dirty="0"/>
              <a:t>HISTORY- taking time to explain the specific appointment goals, remind the patient again of the risks associated with the treatment and updating the Medical status if needs be.</a:t>
            </a:r>
          </a:p>
          <a:p>
            <a:pPr lvl="0"/>
            <a:r>
              <a:rPr lang="en-GB" dirty="0"/>
              <a:t>TREATMENT- this focuses upon what actually took place during the appointment but also includes information concerning the Local Anaesthetic and radiographs (if any were taken)</a:t>
            </a:r>
          </a:p>
          <a:p>
            <a:pPr lvl="0"/>
            <a:r>
              <a:rPr lang="en-GB" dirty="0"/>
              <a:t>DISCUSSION - this includes any post-operative instructions along with any warnings and advice as well as and questions asked by the patient.</a:t>
            </a:r>
          </a:p>
        </p:txBody>
      </p:sp>
    </p:spTree>
    <p:extLst>
      <p:ext uri="{BB962C8B-B14F-4D97-AF65-F5344CB8AC3E}">
        <p14:creationId xmlns:p14="http://schemas.microsoft.com/office/powerpoint/2010/main" val="1671467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1EC20-4A1E-4920-8A46-E6B343E9895A}"/>
              </a:ext>
            </a:extLst>
          </p:cNvPr>
          <p:cNvSpPr>
            <a:spLocks noGrp="1"/>
          </p:cNvSpPr>
          <p:nvPr>
            <p:ph type="title"/>
          </p:nvPr>
        </p:nvSpPr>
        <p:spPr/>
        <p:txBody>
          <a:bodyPr/>
          <a:lstStyle/>
          <a:p>
            <a:r>
              <a:rPr lang="en-GB"/>
              <a:t>Standards</a:t>
            </a:r>
          </a:p>
        </p:txBody>
      </p:sp>
      <p:sp>
        <p:nvSpPr>
          <p:cNvPr id="6" name="Content Placeholder 5">
            <a:extLst>
              <a:ext uri="{FF2B5EF4-FFF2-40B4-BE49-F238E27FC236}">
                <a16:creationId xmlns:a16="http://schemas.microsoft.com/office/drawing/2014/main" id="{62718E00-A67B-4DEA-948C-02B3D94D1BC2}"/>
              </a:ext>
            </a:extLst>
          </p:cNvPr>
          <p:cNvSpPr>
            <a:spLocks noGrp="1"/>
          </p:cNvSpPr>
          <p:nvPr>
            <p:ph idx="1"/>
          </p:nvPr>
        </p:nvSpPr>
        <p:spPr/>
        <p:txBody>
          <a:bodyPr/>
          <a:lstStyle/>
          <a:p>
            <a:r>
              <a:rPr lang="en-GB" i="1" dirty="0"/>
              <a:t>You could have a section slide with each standard listed, then a separate slide for each one.</a:t>
            </a:r>
          </a:p>
          <a:p>
            <a:r>
              <a:rPr lang="en-GB" dirty="0"/>
              <a:t>FGDP - Clinical examination and record keeping. (picture)</a:t>
            </a:r>
          </a:p>
        </p:txBody>
      </p:sp>
    </p:spTree>
    <p:extLst>
      <p:ext uri="{BB962C8B-B14F-4D97-AF65-F5344CB8AC3E}">
        <p14:creationId xmlns:p14="http://schemas.microsoft.com/office/powerpoint/2010/main" val="13544680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070D0-0CA7-4EE7-BB99-B9071AAA861E}"/>
              </a:ext>
            </a:extLst>
          </p:cNvPr>
          <p:cNvSpPr>
            <a:spLocks noGrp="1"/>
          </p:cNvSpPr>
          <p:nvPr>
            <p:ph type="title"/>
          </p:nvPr>
        </p:nvSpPr>
        <p:spPr/>
        <p:txBody>
          <a:bodyPr/>
          <a:lstStyle/>
          <a:p>
            <a:r>
              <a:rPr lang="en-GB"/>
              <a:t>GDC</a:t>
            </a:r>
          </a:p>
        </p:txBody>
      </p:sp>
      <p:sp>
        <p:nvSpPr>
          <p:cNvPr id="6" name="Content Placeholder 5">
            <a:extLst>
              <a:ext uri="{FF2B5EF4-FFF2-40B4-BE49-F238E27FC236}">
                <a16:creationId xmlns:a16="http://schemas.microsoft.com/office/drawing/2014/main" id="{1B4BF244-C0BC-4FF6-AB6D-2062983C1625}"/>
              </a:ext>
            </a:extLst>
          </p:cNvPr>
          <p:cNvSpPr>
            <a:spLocks noGrp="1"/>
          </p:cNvSpPr>
          <p:nvPr>
            <p:ph idx="1"/>
          </p:nvPr>
        </p:nvSpPr>
        <p:spPr/>
        <p:txBody>
          <a:bodyPr/>
          <a:lstStyle/>
          <a:p>
            <a:r>
              <a:rPr lang="en-GB" dirty="0"/>
              <a:t>[MAKE SURE YOU RELATE EACH OF YOUR SHORT LIST BACK TO STATEMENTS YOU HAVE ALREADY MADE.]</a:t>
            </a:r>
          </a:p>
          <a:p>
            <a:r>
              <a:rPr lang="en-GB" dirty="0"/>
              <a:t>GDC- standard for the dental team</a:t>
            </a:r>
          </a:p>
        </p:txBody>
      </p:sp>
    </p:spTree>
    <p:extLst>
      <p:ext uri="{BB962C8B-B14F-4D97-AF65-F5344CB8AC3E}">
        <p14:creationId xmlns:p14="http://schemas.microsoft.com/office/powerpoint/2010/main" val="4188447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402FA-947E-4542-88FE-0B7A3BE0A9ED}"/>
              </a:ext>
            </a:extLst>
          </p:cNvPr>
          <p:cNvSpPr>
            <a:spLocks noGrp="1"/>
          </p:cNvSpPr>
          <p:nvPr>
            <p:ph type="title"/>
          </p:nvPr>
        </p:nvSpPr>
        <p:spPr/>
        <p:txBody>
          <a:bodyPr/>
          <a:lstStyle/>
          <a:p>
            <a:r>
              <a:rPr lang="en-GB"/>
              <a:t>Relevant Standards</a:t>
            </a:r>
          </a:p>
        </p:txBody>
      </p:sp>
      <p:sp>
        <p:nvSpPr>
          <p:cNvPr id="6" name="Content Placeholder 5">
            <a:extLst>
              <a:ext uri="{FF2B5EF4-FFF2-40B4-BE49-F238E27FC236}">
                <a16:creationId xmlns:a16="http://schemas.microsoft.com/office/drawing/2014/main" id="{F36AD7CF-A057-48C9-92F3-B4FA7A49A32B}"/>
              </a:ext>
            </a:extLst>
          </p:cNvPr>
          <p:cNvSpPr>
            <a:spLocks noGrp="1"/>
          </p:cNvSpPr>
          <p:nvPr>
            <p:ph idx="1"/>
          </p:nvPr>
        </p:nvSpPr>
        <p:spPr/>
        <p:txBody>
          <a:bodyPr/>
          <a:lstStyle/>
          <a:p>
            <a:pPr lvl="0"/>
            <a:r>
              <a:rPr lang="en-GB" dirty="0"/>
              <a:t>4.1.1</a:t>
            </a:r>
          </a:p>
          <a:p>
            <a:pPr lvl="0"/>
            <a:r>
              <a:rPr lang="en-GB" dirty="0"/>
              <a:t>4.1.2</a:t>
            </a:r>
          </a:p>
          <a:p>
            <a:pPr lvl="0"/>
            <a:r>
              <a:rPr lang="en-GB" dirty="0"/>
              <a:t>etc</a:t>
            </a:r>
          </a:p>
        </p:txBody>
      </p:sp>
    </p:spTree>
    <p:extLst>
      <p:ext uri="{BB962C8B-B14F-4D97-AF65-F5344CB8AC3E}">
        <p14:creationId xmlns:p14="http://schemas.microsoft.com/office/powerpoint/2010/main" val="42655076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22FC9-5DF8-49BF-9C18-A7FFB2CE1151}"/>
              </a:ext>
            </a:extLst>
          </p:cNvPr>
          <p:cNvSpPr>
            <a:spLocks noGrp="1"/>
          </p:cNvSpPr>
          <p:nvPr>
            <p:ph type="title"/>
          </p:nvPr>
        </p:nvSpPr>
        <p:spPr/>
        <p:txBody>
          <a:bodyPr/>
          <a:lstStyle/>
          <a:p>
            <a:r>
              <a:rPr lang="en-GB"/>
              <a:t>Quote 4.1.1</a:t>
            </a:r>
          </a:p>
        </p:txBody>
      </p:sp>
      <p:sp>
        <p:nvSpPr>
          <p:cNvPr id="6" name="Content Placeholder 5">
            <a:extLst>
              <a:ext uri="{FF2B5EF4-FFF2-40B4-BE49-F238E27FC236}">
                <a16:creationId xmlns:a16="http://schemas.microsoft.com/office/drawing/2014/main" id="{86B1AC0B-89B0-4A75-9440-9BB4A764A393}"/>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2722706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0D11F-B008-443E-94A9-CA0D9831F377}"/>
              </a:ext>
            </a:extLst>
          </p:cNvPr>
          <p:cNvSpPr>
            <a:spLocks noGrp="1"/>
          </p:cNvSpPr>
          <p:nvPr>
            <p:ph type="title"/>
          </p:nvPr>
        </p:nvSpPr>
        <p:spPr/>
        <p:txBody>
          <a:bodyPr/>
          <a:lstStyle/>
          <a:p>
            <a:r>
              <a:rPr lang="en-GB"/>
              <a:t>4.1.2</a:t>
            </a:r>
          </a:p>
        </p:txBody>
      </p:sp>
      <p:sp>
        <p:nvSpPr>
          <p:cNvPr id="6" name="Content Placeholder 5">
            <a:extLst>
              <a:ext uri="{FF2B5EF4-FFF2-40B4-BE49-F238E27FC236}">
                <a16:creationId xmlns:a16="http://schemas.microsoft.com/office/drawing/2014/main" id="{AFD65869-1DB7-4695-B71C-6ECAEB305D03}"/>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27736466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4706C-BA74-4851-9422-118DA3022100}"/>
              </a:ext>
            </a:extLst>
          </p:cNvPr>
          <p:cNvSpPr>
            <a:spLocks noGrp="1"/>
          </p:cNvSpPr>
          <p:nvPr>
            <p:ph type="title"/>
          </p:nvPr>
        </p:nvSpPr>
        <p:spPr/>
        <p:txBody>
          <a:bodyPr/>
          <a:lstStyle/>
          <a:p>
            <a:r>
              <a:rPr lang="en-GB"/>
              <a:t>[4.1.3]</a:t>
            </a:r>
          </a:p>
        </p:txBody>
      </p:sp>
      <p:sp>
        <p:nvSpPr>
          <p:cNvPr id="6" name="Content Placeholder 5">
            <a:extLst>
              <a:ext uri="{FF2B5EF4-FFF2-40B4-BE49-F238E27FC236}">
                <a16:creationId xmlns:a16="http://schemas.microsoft.com/office/drawing/2014/main" id="{7D1510B4-4531-4714-B84B-44B84315CB9E}"/>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1901428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5AE4C-3425-4B32-B772-DA6176FF945E}"/>
              </a:ext>
            </a:extLst>
          </p:cNvPr>
          <p:cNvSpPr>
            <a:spLocks noGrp="1"/>
          </p:cNvSpPr>
          <p:nvPr>
            <p:ph type="title"/>
          </p:nvPr>
        </p:nvSpPr>
        <p:spPr/>
        <p:txBody>
          <a:bodyPr/>
          <a:lstStyle/>
          <a:p>
            <a:r>
              <a:rPr lang="en-GB"/>
              <a:t>[4.1.4]</a:t>
            </a:r>
          </a:p>
        </p:txBody>
      </p:sp>
      <p:sp>
        <p:nvSpPr>
          <p:cNvPr id="6" name="Content Placeholder 5">
            <a:extLst>
              <a:ext uri="{FF2B5EF4-FFF2-40B4-BE49-F238E27FC236}">
                <a16:creationId xmlns:a16="http://schemas.microsoft.com/office/drawing/2014/main" id="{75AD97C5-87C6-447F-AB56-E9885445E59F}"/>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17562841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871DD-ACE3-4BED-808E-4D829962A357}"/>
              </a:ext>
            </a:extLst>
          </p:cNvPr>
          <p:cNvSpPr>
            <a:spLocks noGrp="1"/>
          </p:cNvSpPr>
          <p:nvPr>
            <p:ph type="title"/>
          </p:nvPr>
        </p:nvSpPr>
        <p:spPr/>
        <p:txBody>
          <a:bodyPr/>
          <a:lstStyle/>
          <a:p>
            <a:r>
              <a:rPr lang="en-GB"/>
              <a:t>4.1.6</a:t>
            </a:r>
          </a:p>
        </p:txBody>
      </p:sp>
      <p:sp>
        <p:nvSpPr>
          <p:cNvPr id="6" name="Content Placeholder 5">
            <a:extLst>
              <a:ext uri="{FF2B5EF4-FFF2-40B4-BE49-F238E27FC236}">
                <a16:creationId xmlns:a16="http://schemas.microsoft.com/office/drawing/2014/main" id="{75810E83-420C-4A06-8848-CEF21DF8C386}"/>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6908022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59F3A-B60E-4752-8C94-F58B58971DA8}"/>
              </a:ext>
            </a:extLst>
          </p:cNvPr>
          <p:cNvSpPr>
            <a:spLocks noGrp="1"/>
          </p:cNvSpPr>
          <p:nvPr>
            <p:ph type="title"/>
          </p:nvPr>
        </p:nvSpPr>
        <p:spPr/>
        <p:txBody>
          <a:bodyPr/>
          <a:lstStyle/>
          <a:p>
            <a:r>
              <a:rPr lang="en-GB"/>
              <a:t>1.7.2</a:t>
            </a:r>
          </a:p>
        </p:txBody>
      </p:sp>
      <p:sp>
        <p:nvSpPr>
          <p:cNvPr id="6" name="Content Placeholder 5">
            <a:extLst>
              <a:ext uri="{FF2B5EF4-FFF2-40B4-BE49-F238E27FC236}">
                <a16:creationId xmlns:a16="http://schemas.microsoft.com/office/drawing/2014/main" id="{4777853B-A43F-49A9-AA1F-2D50768495C9}"/>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10019331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A0866-87C4-4AFA-A976-327551CBA85C}"/>
              </a:ext>
            </a:extLst>
          </p:cNvPr>
          <p:cNvSpPr>
            <a:spLocks noGrp="1"/>
          </p:cNvSpPr>
          <p:nvPr>
            <p:ph type="title"/>
          </p:nvPr>
        </p:nvSpPr>
        <p:spPr/>
        <p:txBody>
          <a:bodyPr/>
          <a:lstStyle/>
          <a:p>
            <a:r>
              <a:rPr lang="en-GB"/>
              <a:t>[1.7.3]</a:t>
            </a:r>
          </a:p>
        </p:txBody>
      </p:sp>
      <p:sp>
        <p:nvSpPr>
          <p:cNvPr id="6" name="Content Placeholder 5">
            <a:extLst>
              <a:ext uri="{FF2B5EF4-FFF2-40B4-BE49-F238E27FC236}">
                <a16:creationId xmlns:a16="http://schemas.microsoft.com/office/drawing/2014/main" id="{80C1D922-D027-42E7-B8C6-0F5F5CB929EC}"/>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19941475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C2AE-457F-4BEE-9042-09AC9A20FD9C}"/>
              </a:ext>
            </a:extLst>
          </p:cNvPr>
          <p:cNvSpPr>
            <a:spLocks noGrp="1"/>
          </p:cNvSpPr>
          <p:nvPr>
            <p:ph type="title"/>
          </p:nvPr>
        </p:nvSpPr>
        <p:spPr/>
        <p:txBody>
          <a:bodyPr/>
          <a:lstStyle/>
          <a:p>
            <a:r>
              <a:rPr lang="en-GB"/>
              <a:t>[1.7.4]</a:t>
            </a:r>
          </a:p>
        </p:txBody>
      </p:sp>
      <p:sp>
        <p:nvSpPr>
          <p:cNvPr id="6" name="Content Placeholder 5">
            <a:extLst>
              <a:ext uri="{FF2B5EF4-FFF2-40B4-BE49-F238E27FC236}">
                <a16:creationId xmlns:a16="http://schemas.microsoft.com/office/drawing/2014/main" id="{94D33577-F7F1-448D-B789-3F5475480A3E}"/>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42565192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8E7DB-76CD-41A6-98EE-49F797A14AA2}"/>
              </a:ext>
            </a:extLst>
          </p:cNvPr>
          <p:cNvSpPr>
            <a:spLocks noGrp="1"/>
          </p:cNvSpPr>
          <p:nvPr>
            <p:ph type="title"/>
          </p:nvPr>
        </p:nvSpPr>
        <p:spPr/>
        <p:txBody>
          <a:bodyPr/>
          <a:lstStyle/>
          <a:p>
            <a:r>
              <a:rPr lang="en-GB"/>
              <a:t>3.1.3 </a:t>
            </a:r>
          </a:p>
        </p:txBody>
      </p:sp>
      <p:sp>
        <p:nvSpPr>
          <p:cNvPr id="6" name="Content Placeholder 5">
            <a:extLst>
              <a:ext uri="{FF2B5EF4-FFF2-40B4-BE49-F238E27FC236}">
                <a16:creationId xmlns:a16="http://schemas.microsoft.com/office/drawing/2014/main" id="{C3D34E7B-7550-42CE-95E6-1526E8482B87}"/>
              </a:ext>
            </a:extLst>
          </p:cNvPr>
          <p:cNvSpPr>
            <a:spLocks noGrp="1"/>
          </p:cNvSpPr>
          <p:nvPr>
            <p:ph idx="1"/>
          </p:nvPr>
        </p:nvSpPr>
        <p:spPr/>
        <p:txBody>
          <a:bodyPr>
            <a:normAutofit fontScale="85000" lnSpcReduction="10000"/>
          </a:bodyPr>
          <a:lstStyle/>
          <a:p>
            <a:r>
              <a:rPr lang="en-GB" dirty="0"/>
              <a:t>You should find out what your patients want to know as well as what you think they need to know. Things that patients might want to know include:</a:t>
            </a:r>
          </a:p>
          <a:p>
            <a:r>
              <a:rPr lang="en-GB" dirty="0"/>
              <a:t>• options for treatment, the risks and the potential benefits;</a:t>
            </a:r>
          </a:p>
          <a:p>
            <a:r>
              <a:rPr lang="en-GB" dirty="0"/>
              <a:t>• why you think a particular treatment is necessary and appropriate for them;</a:t>
            </a:r>
          </a:p>
          <a:p>
            <a:r>
              <a:rPr lang="en-GB" dirty="0"/>
              <a:t>• the consequences, risks and benefits of the treatment you propose;</a:t>
            </a:r>
          </a:p>
          <a:p>
            <a:r>
              <a:rPr lang="en-GB" dirty="0"/>
              <a:t>• the likely prognosis;</a:t>
            </a:r>
          </a:p>
          <a:p>
            <a:r>
              <a:rPr lang="en-GB" dirty="0"/>
              <a:t>• your recommended option;</a:t>
            </a:r>
          </a:p>
          <a:p>
            <a:r>
              <a:rPr lang="en-GB" dirty="0"/>
              <a:t>• the cost of the proposed treatment;</a:t>
            </a:r>
          </a:p>
          <a:p>
            <a:r>
              <a:rPr lang="en-GB" dirty="0"/>
              <a:t>• what might happen if the proposed treatment is not carried out; and</a:t>
            </a:r>
          </a:p>
          <a:p>
            <a:r>
              <a:rPr lang="en-GB" dirty="0"/>
              <a:t>• whether the treatment is guaranteed, how long it is guaranteed for and any exclusions that apply.</a:t>
            </a:r>
          </a:p>
          <a:p>
            <a:endParaRPr lang="en-GB" dirty="0"/>
          </a:p>
        </p:txBody>
      </p:sp>
    </p:spTree>
    <p:extLst>
      <p:ext uri="{BB962C8B-B14F-4D97-AF65-F5344CB8AC3E}">
        <p14:creationId xmlns:p14="http://schemas.microsoft.com/office/powerpoint/2010/main" val="35950132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46530-B314-43D3-B79E-2438ABBCCA18}"/>
              </a:ext>
            </a:extLst>
          </p:cNvPr>
          <p:cNvSpPr>
            <a:spLocks noGrp="1"/>
          </p:cNvSpPr>
          <p:nvPr>
            <p:ph type="title"/>
          </p:nvPr>
        </p:nvSpPr>
        <p:spPr/>
        <p:txBody>
          <a:bodyPr/>
          <a:lstStyle/>
          <a:p>
            <a:r>
              <a:rPr lang="en-GB"/>
              <a:t>3.3.1 </a:t>
            </a:r>
          </a:p>
        </p:txBody>
      </p:sp>
      <p:sp>
        <p:nvSpPr>
          <p:cNvPr id="6" name="Content Placeholder 5">
            <a:extLst>
              <a:ext uri="{FF2B5EF4-FFF2-40B4-BE49-F238E27FC236}">
                <a16:creationId xmlns:a16="http://schemas.microsoft.com/office/drawing/2014/main" id="{BD4E683D-72DC-4CD9-A3D8-70F88889E73C}"/>
              </a:ext>
            </a:extLst>
          </p:cNvPr>
          <p:cNvSpPr>
            <a:spLocks noGrp="1"/>
          </p:cNvSpPr>
          <p:nvPr>
            <p:ph idx="1"/>
          </p:nvPr>
        </p:nvSpPr>
        <p:spPr/>
        <p:txBody>
          <a:bodyPr/>
          <a:lstStyle/>
          <a:p>
            <a:r>
              <a:rPr lang="en-GB" dirty="0"/>
              <a:t>Giving and obtaining consent is a process, not a one- off event. It should be part of on-going communication between patients and all members of the dental team involved in their care. You should keep patients informed about the progress of their care</a:t>
            </a:r>
          </a:p>
          <a:p>
            <a:r>
              <a:rPr lang="en-GB" dirty="0"/>
              <a:t>The GDC does not set its own standard it says you should abide by the standards in place i.e. the FGDP standards. </a:t>
            </a:r>
          </a:p>
        </p:txBody>
      </p:sp>
    </p:spTree>
    <p:extLst>
      <p:ext uri="{BB962C8B-B14F-4D97-AF65-F5344CB8AC3E}">
        <p14:creationId xmlns:p14="http://schemas.microsoft.com/office/powerpoint/2010/main" val="445936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64419-DE98-4DCC-938D-A9704BDDA3C6}"/>
              </a:ext>
            </a:extLst>
          </p:cNvPr>
          <p:cNvSpPr>
            <a:spLocks noGrp="1"/>
          </p:cNvSpPr>
          <p:nvPr>
            <p:ph type="title"/>
          </p:nvPr>
        </p:nvSpPr>
        <p:spPr/>
        <p:txBody>
          <a:bodyPr/>
          <a:lstStyle/>
          <a:p>
            <a:r>
              <a:rPr lang="en-GB"/>
              <a:t>CQC</a:t>
            </a:r>
          </a:p>
        </p:txBody>
      </p:sp>
      <p:sp>
        <p:nvSpPr>
          <p:cNvPr id="6" name="Content Placeholder 5">
            <a:extLst>
              <a:ext uri="{FF2B5EF4-FFF2-40B4-BE49-F238E27FC236}">
                <a16:creationId xmlns:a16="http://schemas.microsoft.com/office/drawing/2014/main" id="{0EC341E8-DAAD-422C-BA31-67C7829ACFFD}"/>
              </a:ext>
            </a:extLst>
          </p:cNvPr>
          <p:cNvSpPr>
            <a:spLocks noGrp="1"/>
          </p:cNvSpPr>
          <p:nvPr>
            <p:ph idx="1"/>
          </p:nvPr>
        </p:nvSpPr>
        <p:spPr/>
        <p:txBody>
          <a:bodyPr>
            <a:normAutofit fontScale="77500" lnSpcReduction="20000"/>
          </a:bodyPr>
          <a:lstStyle/>
          <a:p>
            <a:r>
              <a:rPr lang="en-GB" dirty="0"/>
              <a:t>CQC- make sure you have an update to date title</a:t>
            </a:r>
          </a:p>
          <a:p>
            <a:r>
              <a:rPr lang="en-GB" dirty="0"/>
              <a:t>Regulation 17 of the Health and Social Care Act 2008 (Regulated Activities) Regulations 2014 (No 2936) states that:</a:t>
            </a:r>
          </a:p>
          <a:p>
            <a:r>
              <a:rPr lang="en-GB" dirty="0"/>
              <a:t>1.	The registered person must ensure that service users are protected against the risks of unsafe or inappropriate care and treatment arising from a lack of proper information about them by means of the maintenance of: </a:t>
            </a:r>
          </a:p>
          <a:p>
            <a:r>
              <a:rPr lang="en-GB" dirty="0"/>
              <a:t>1.	an accurate record in respect of each service user which shall include appropriate information and documents in relation to the care and treatment provided to each service user.</a:t>
            </a:r>
          </a:p>
          <a:p>
            <a:r>
              <a:rPr lang="en-GB" dirty="0"/>
              <a:t>2.	The registered person must ensure that the records referred to in paragraph (1) (which may be in paper or electronic form) are: </a:t>
            </a:r>
          </a:p>
          <a:p>
            <a:r>
              <a:rPr lang="en-GB" dirty="0"/>
              <a:t>1.	kept securely and can be located promptly when required;</a:t>
            </a:r>
          </a:p>
          <a:p>
            <a:r>
              <a:rPr lang="en-GB" dirty="0"/>
              <a:t>2.	retained for an appropriate period of time; and</a:t>
            </a:r>
          </a:p>
          <a:p>
            <a:r>
              <a:rPr lang="en-GB" dirty="0"/>
              <a:t>3.	securely destroyed when it is appropriate to do so.</a:t>
            </a:r>
          </a:p>
        </p:txBody>
      </p:sp>
    </p:spTree>
    <p:extLst>
      <p:ext uri="{BB962C8B-B14F-4D97-AF65-F5344CB8AC3E}">
        <p14:creationId xmlns:p14="http://schemas.microsoft.com/office/powerpoint/2010/main" val="1024401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517DE-3433-48C1-B56E-0A60CAFD8C70}"/>
              </a:ext>
            </a:extLst>
          </p:cNvPr>
          <p:cNvSpPr>
            <a:spLocks noGrp="1"/>
          </p:cNvSpPr>
          <p:nvPr>
            <p:ph type="title"/>
          </p:nvPr>
        </p:nvSpPr>
        <p:spPr/>
        <p:txBody>
          <a:bodyPr/>
          <a:lstStyle/>
          <a:p>
            <a:r>
              <a:rPr lang="en-GB" b="1" dirty="0"/>
              <a:t>NHS - GDS CONTRACT</a:t>
            </a:r>
          </a:p>
        </p:txBody>
      </p:sp>
      <p:sp>
        <p:nvSpPr>
          <p:cNvPr id="3" name="Text Placeholder 2">
            <a:extLst>
              <a:ext uri="{FF2B5EF4-FFF2-40B4-BE49-F238E27FC236}">
                <a16:creationId xmlns:a16="http://schemas.microsoft.com/office/drawing/2014/main" id="{1CB54793-6882-481F-98CD-7501AEBBDD10}"/>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8156749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BAFE3-9C99-48F4-B48B-D2F938306457}"/>
              </a:ext>
            </a:extLst>
          </p:cNvPr>
          <p:cNvSpPr>
            <a:spLocks noGrp="1"/>
          </p:cNvSpPr>
          <p:nvPr>
            <p:ph type="title"/>
          </p:nvPr>
        </p:nvSpPr>
        <p:spPr/>
        <p:txBody>
          <a:bodyPr/>
          <a:lstStyle/>
          <a:p>
            <a:pPr lvl="0"/>
            <a:r>
              <a:rPr lang="en-GB" dirty="0"/>
              <a:t>Patient records</a:t>
            </a:r>
          </a:p>
        </p:txBody>
      </p:sp>
      <p:sp>
        <p:nvSpPr>
          <p:cNvPr id="3" name="Text Placeholder 2">
            <a:extLst>
              <a:ext uri="{FF2B5EF4-FFF2-40B4-BE49-F238E27FC236}">
                <a16:creationId xmlns:a16="http://schemas.microsoft.com/office/drawing/2014/main" id="{0C956E88-6FC6-4CB8-8FA8-A49ED520B679}"/>
              </a:ext>
            </a:extLst>
          </p:cNvPr>
          <p:cNvSpPr>
            <a:spLocks noGrp="1"/>
          </p:cNvSpPr>
          <p:nvPr>
            <p:ph idx="1"/>
          </p:nvPr>
        </p:nvSpPr>
        <p:spPr/>
        <p:txBody>
          <a:bodyPr>
            <a:normAutofit fontScale="47500" lnSpcReduction="20000"/>
          </a:bodyPr>
          <a:lstStyle/>
          <a:p>
            <a:r>
              <a:rPr lang="en-GB" dirty="0"/>
              <a:t>202. The Contractor shall ensure that a full, accurate and contemporaneous record is kept in the patient record in respect of the care and treatment given to each patient under the Contract, including treatment given to a patient who is referred to the Contractor.</a:t>
            </a:r>
          </a:p>
          <a:p>
            <a:r>
              <a:rPr lang="en-GB" dirty="0"/>
              <a:t>203. The patient record may be kept in electronic form.</a:t>
            </a:r>
          </a:p>
          <a:p>
            <a:r>
              <a:rPr lang="en-GB" dirty="0"/>
              <a:t>204. The patient record shall include details of any private services (to the extent that they are provided with services under the Contract) and shall be kept with—</a:t>
            </a:r>
          </a:p>
          <a:p>
            <a:r>
              <a:rPr lang="en-GB" dirty="0"/>
              <a:t>204.1. a copy of any treatment plan or referral treatment plan given to the patient pursuant to clauses 47 and 49 or clauses 164 and 165;</a:t>
            </a:r>
          </a:p>
          <a:p>
            <a:r>
              <a:rPr lang="en-GB" dirty="0"/>
              <a:t>204.2. all radiographs, photographs and study casts taken or obtained by it as part of the services provided to that patient;</a:t>
            </a:r>
          </a:p>
          <a:p>
            <a:r>
              <a:rPr lang="en-GB" dirty="0"/>
              <a:t>204.3. where an orthodontic course of treatment has been provided to a patient, a copy of the orthodontic treatment plan;</a:t>
            </a:r>
          </a:p>
          <a:p>
            <a:r>
              <a:rPr lang="en-GB" dirty="0"/>
              <a:t>204.4. where information is required to be notified to the Board in accordance with clauses 221 and 222, and that information is to be submitted electronically204.4.1. the written declaration form in respect of exemption under section 177(1) of the 2006 Act duly made and completed(60 Except where it is expressly indicated in a footnote that a particular clause is only required in certain types of GDS contract, this section is required by the Regulations: see regulation 24 and Part 5 of Schedule 3.), in accordance with regulations made under sections 176 and 177(5) of the 2006 Act; and</a:t>
            </a:r>
          </a:p>
          <a:p>
            <a:r>
              <a:rPr lang="en-GB" dirty="0"/>
              <a:t>204.4.2. a note of the evidence in support of that declaration; and</a:t>
            </a:r>
          </a:p>
          <a:p>
            <a:r>
              <a:rPr lang="en-GB" dirty="0"/>
              <a:t>204.5. the statement concerning any custom-made devices provided by any person as a consequence of regulation 15 of the Medical Devices Regulations 2002 in respect of services being provided to that patient.</a:t>
            </a:r>
          </a:p>
          <a:p>
            <a:r>
              <a:rPr lang="en-GB" dirty="0"/>
              <a:t>Patients have a statutory right to see records made about their dental care. While they live this is under the Data Protection Act 1998. If they die, the right passes on to those who may have a claim against their estate and arises under the Access to Health Records Act 1990.</a:t>
            </a:r>
          </a:p>
          <a:p>
            <a:pPr lvl="0"/>
            <a:endParaRPr lang="en-GB" dirty="0"/>
          </a:p>
        </p:txBody>
      </p:sp>
    </p:spTree>
    <p:extLst>
      <p:ext uri="{BB962C8B-B14F-4D97-AF65-F5344CB8AC3E}">
        <p14:creationId xmlns:p14="http://schemas.microsoft.com/office/powerpoint/2010/main" val="38022373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68971-F614-458E-92D7-86EFCEAB37B5}"/>
              </a:ext>
            </a:extLst>
          </p:cNvPr>
          <p:cNvSpPr>
            <a:spLocks noGrp="1"/>
          </p:cNvSpPr>
          <p:nvPr>
            <p:ph type="title"/>
          </p:nvPr>
        </p:nvSpPr>
        <p:spPr/>
        <p:txBody>
          <a:bodyPr/>
          <a:lstStyle/>
          <a:p>
            <a:r>
              <a:rPr lang="en-GB"/>
              <a:t>Longevity</a:t>
            </a:r>
          </a:p>
        </p:txBody>
      </p:sp>
      <p:sp>
        <p:nvSpPr>
          <p:cNvPr id="6" name="Content Placeholder 5">
            <a:extLst>
              <a:ext uri="{FF2B5EF4-FFF2-40B4-BE49-F238E27FC236}">
                <a16:creationId xmlns:a16="http://schemas.microsoft.com/office/drawing/2014/main" id="{7B694C35-D5CF-4423-A296-893D1C8F7BCF}"/>
              </a:ext>
            </a:extLst>
          </p:cNvPr>
          <p:cNvSpPr>
            <a:spLocks noGrp="1"/>
          </p:cNvSpPr>
          <p:nvPr>
            <p:ph idx="1"/>
          </p:nvPr>
        </p:nvSpPr>
        <p:spPr/>
        <p:txBody>
          <a:bodyPr>
            <a:normAutofit fontScale="77500" lnSpcReduction="20000"/>
          </a:bodyPr>
          <a:lstStyle/>
          <a:p>
            <a:r>
              <a:rPr lang="en-GB" dirty="0"/>
              <a:t>Code of Practice on retention/ Disposal of records in the NHS.</a:t>
            </a:r>
          </a:p>
          <a:p>
            <a:r>
              <a:rPr lang="en-GB" dirty="0"/>
              <a:t>Practitioners are encouraged to put a maximum period of 30 years to the retention of the notes.</a:t>
            </a:r>
          </a:p>
          <a:p>
            <a:r>
              <a:rPr lang="en-GB" dirty="0"/>
              <a:t>If 30 years is not a possibility the NHS code states the following: </a:t>
            </a:r>
          </a:p>
          <a:p>
            <a:pPr lvl="0"/>
            <a:r>
              <a:rPr lang="en-GB" dirty="0"/>
              <a:t>Community care</a:t>
            </a:r>
          </a:p>
          <a:p>
            <a:pPr lvl="0"/>
            <a:r>
              <a:rPr lang="en-GB" dirty="0"/>
              <a:t>11 years for adults</a:t>
            </a:r>
          </a:p>
          <a:p>
            <a:pPr lvl="0"/>
            <a:r>
              <a:rPr lang="en-GB" dirty="0"/>
              <a:t>Up to 25 years old for children (or which ever is the longer)</a:t>
            </a:r>
          </a:p>
          <a:p>
            <a:r>
              <a:rPr lang="en-GB" dirty="0"/>
              <a:t>Hospital care</a:t>
            </a:r>
          </a:p>
          <a:p>
            <a:pPr lvl="0"/>
            <a:r>
              <a:rPr lang="en-GB" dirty="0"/>
              <a:t>8 years for adult </a:t>
            </a:r>
          </a:p>
          <a:p>
            <a:pPr lvl="0"/>
            <a:r>
              <a:rPr lang="en-GB" dirty="0"/>
              <a:t>To the age of 25 years or 8 years post death.</a:t>
            </a:r>
          </a:p>
          <a:p>
            <a:r>
              <a:rPr lang="en-GB" dirty="0"/>
              <a:t>Most dental defence unions advise to adopt the period of time set out under the NHS Code for Community care as an absolute minimum and to retain records for as long as possible. </a:t>
            </a:r>
          </a:p>
        </p:txBody>
      </p:sp>
    </p:spTree>
    <p:extLst>
      <p:ext uri="{BB962C8B-B14F-4D97-AF65-F5344CB8AC3E}">
        <p14:creationId xmlns:p14="http://schemas.microsoft.com/office/powerpoint/2010/main" val="9232846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45251-767C-4332-A7C9-D00441D0BB3D}"/>
              </a:ext>
            </a:extLst>
          </p:cNvPr>
          <p:cNvSpPr>
            <a:spLocks noGrp="1"/>
          </p:cNvSpPr>
          <p:nvPr>
            <p:ph type="title"/>
          </p:nvPr>
        </p:nvSpPr>
        <p:spPr/>
        <p:txBody>
          <a:bodyPr/>
          <a:lstStyle/>
          <a:p>
            <a:r>
              <a:rPr lang="en-GB"/>
              <a:t>Errors</a:t>
            </a:r>
          </a:p>
        </p:txBody>
      </p:sp>
      <p:sp>
        <p:nvSpPr>
          <p:cNvPr id="6" name="Content Placeholder 5">
            <a:extLst>
              <a:ext uri="{FF2B5EF4-FFF2-40B4-BE49-F238E27FC236}">
                <a16:creationId xmlns:a16="http://schemas.microsoft.com/office/drawing/2014/main" id="{F8839C91-D3DF-4FD6-BF57-E1C6BCA1CA8F}"/>
              </a:ext>
            </a:extLst>
          </p:cNvPr>
          <p:cNvSpPr>
            <a:spLocks noGrp="1"/>
          </p:cNvSpPr>
          <p:nvPr>
            <p:ph idx="1"/>
          </p:nvPr>
        </p:nvSpPr>
        <p:spPr/>
        <p:txBody>
          <a:bodyPr/>
          <a:lstStyle/>
          <a:p>
            <a:r>
              <a:rPr lang="en-GB" dirty="0"/>
              <a:t>GDC 4.1.5</a:t>
            </a:r>
          </a:p>
          <a:p>
            <a:r>
              <a:rPr lang="en-GB" dirty="0"/>
              <a:t>If you need to make any amendments to a patient’s records you must make sure that the changes are clearly marked up and dated.</a:t>
            </a:r>
          </a:p>
          <a:p>
            <a:r>
              <a:rPr lang="en-GB" dirty="0"/>
              <a:t>Computer notes- never delete a note that has already been saved. Best practice is to write an additional note stating that the previous note was incorrect. After this proceed to write the correct note</a:t>
            </a:r>
          </a:p>
          <a:p>
            <a:r>
              <a:rPr lang="en-GB" dirty="0"/>
              <a:t>Paper notes- always draw a neat line through the note so as to highlight that this original note was incorrectly written. Even though the original note is incorrect it is important for the contents to still be readable by any third party</a:t>
            </a:r>
          </a:p>
        </p:txBody>
      </p:sp>
    </p:spTree>
    <p:extLst>
      <p:ext uri="{BB962C8B-B14F-4D97-AF65-F5344CB8AC3E}">
        <p14:creationId xmlns:p14="http://schemas.microsoft.com/office/powerpoint/2010/main" val="21775420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F0CC2-DF4D-4A69-8DDB-83EBE40B7808}"/>
              </a:ext>
            </a:extLst>
          </p:cNvPr>
          <p:cNvSpPr>
            <a:spLocks noGrp="1"/>
          </p:cNvSpPr>
          <p:nvPr>
            <p:ph type="title"/>
          </p:nvPr>
        </p:nvSpPr>
        <p:spPr/>
        <p:txBody>
          <a:bodyPr/>
          <a:lstStyle/>
          <a:p>
            <a:r>
              <a:rPr lang="en-GB"/>
              <a:t>Audit </a:t>
            </a:r>
          </a:p>
        </p:txBody>
      </p:sp>
      <p:sp>
        <p:nvSpPr>
          <p:cNvPr id="6" name="Content Placeholder 5">
            <a:extLst>
              <a:ext uri="{FF2B5EF4-FFF2-40B4-BE49-F238E27FC236}">
                <a16:creationId xmlns:a16="http://schemas.microsoft.com/office/drawing/2014/main" id="{8E0F07B3-8CAF-4EDA-A106-3FE03A3013E5}"/>
              </a:ext>
            </a:extLst>
          </p:cNvPr>
          <p:cNvSpPr>
            <a:spLocks noGrp="1"/>
          </p:cNvSpPr>
          <p:nvPr>
            <p:ph idx="1"/>
          </p:nvPr>
        </p:nvSpPr>
        <p:spPr/>
        <p:txBody>
          <a:bodyPr>
            <a:normAutofit fontScale="92500" lnSpcReduction="20000"/>
          </a:bodyPr>
          <a:lstStyle/>
          <a:p>
            <a:r>
              <a:rPr lang="en-GB" dirty="0"/>
              <a:t>It is important to carry out regular audits to on the quality of one’s record keeping.</a:t>
            </a:r>
          </a:p>
          <a:p>
            <a:r>
              <a:rPr lang="en-GB" dirty="0"/>
              <a:t>Audit cycle is simple-</a:t>
            </a:r>
          </a:p>
          <a:p>
            <a:pPr lvl="0"/>
            <a:r>
              <a:rPr lang="en-GB" dirty="0"/>
              <a:t>Set a standard </a:t>
            </a:r>
          </a:p>
          <a:p>
            <a:pPr lvl="0"/>
            <a:r>
              <a:rPr lang="en-GB" dirty="0"/>
              <a:t>Carry out record keeping practice</a:t>
            </a:r>
          </a:p>
          <a:p>
            <a:pPr lvl="0"/>
            <a:r>
              <a:rPr lang="en-GB" dirty="0"/>
              <a:t>Compare the results from the observed practice to that seen on your standard </a:t>
            </a:r>
          </a:p>
          <a:p>
            <a:pPr lvl="0"/>
            <a:r>
              <a:rPr lang="en-GB" dirty="0"/>
              <a:t>Create a plan to either show improved results in the future or to keep the standard where it is</a:t>
            </a:r>
          </a:p>
          <a:p>
            <a:pPr lvl="0"/>
            <a:r>
              <a:rPr lang="en-GB" dirty="0"/>
              <a:t>Carry out the record keeping practice again</a:t>
            </a:r>
          </a:p>
          <a:p>
            <a:pPr lvl="0"/>
            <a:r>
              <a:rPr lang="en-GB" dirty="0"/>
              <a:t>Continue</a:t>
            </a:r>
          </a:p>
        </p:txBody>
      </p:sp>
    </p:spTree>
    <p:extLst>
      <p:ext uri="{BB962C8B-B14F-4D97-AF65-F5344CB8AC3E}">
        <p14:creationId xmlns:p14="http://schemas.microsoft.com/office/powerpoint/2010/main" val="11619283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C5B-133E-40F3-8DF6-6495D126213D}"/>
              </a:ext>
            </a:extLst>
          </p:cNvPr>
          <p:cNvSpPr>
            <a:spLocks noGrp="1"/>
          </p:cNvSpPr>
          <p:nvPr>
            <p:ph type="title"/>
          </p:nvPr>
        </p:nvSpPr>
        <p:spPr/>
        <p:txBody>
          <a:bodyPr/>
          <a:lstStyle/>
          <a:p>
            <a:r>
              <a:rPr lang="en-GB"/>
              <a:t>Example</a:t>
            </a:r>
          </a:p>
        </p:txBody>
      </p:sp>
      <p:sp>
        <p:nvSpPr>
          <p:cNvPr id="6" name="Content Placeholder 5">
            <a:extLst>
              <a:ext uri="{FF2B5EF4-FFF2-40B4-BE49-F238E27FC236}">
                <a16:creationId xmlns:a16="http://schemas.microsoft.com/office/drawing/2014/main" id="{8AFD7AE9-1D87-4415-9764-10BD1C4DBFBE}"/>
              </a:ext>
            </a:extLst>
          </p:cNvPr>
          <p:cNvSpPr>
            <a:spLocks noGrp="1"/>
          </p:cNvSpPr>
          <p:nvPr>
            <p:ph idx="1"/>
          </p:nvPr>
        </p:nvSpPr>
        <p:spPr/>
        <p:txBody>
          <a:bodyPr/>
          <a:lstStyle/>
          <a:p>
            <a:r>
              <a:rPr lang="en-GB" dirty="0"/>
              <a:t>An example of an audit is seen below:</a:t>
            </a:r>
          </a:p>
          <a:p>
            <a:r>
              <a:rPr lang="en-GB" dirty="0"/>
              <a:t>AUDIT</a:t>
            </a:r>
          </a:p>
          <a:p>
            <a:r>
              <a:rPr lang="en-GB" dirty="0"/>
              <a:t>Find 10-15 audit cards and assess the quality of each patient record by ticking in the boxes below where the necessary information has been correctly documented. Once complete analyse all of the results and repeat this process again in 6-12 months so as to see if the quality of the records are rising with time: </a:t>
            </a:r>
          </a:p>
          <a:p>
            <a:r>
              <a:rPr lang="en-GB" dirty="0"/>
              <a:t>PLEASE SEE ATTACHMENT FOR AN EXAMPLE OF A RECORD KEEPING AUDIT</a:t>
            </a:r>
          </a:p>
        </p:txBody>
      </p:sp>
    </p:spTree>
    <p:extLst>
      <p:ext uri="{BB962C8B-B14F-4D97-AF65-F5344CB8AC3E}">
        <p14:creationId xmlns:p14="http://schemas.microsoft.com/office/powerpoint/2010/main" val="9648510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59410-CFE5-407B-B247-5C4A3775419E}"/>
              </a:ext>
            </a:extLst>
          </p:cNvPr>
          <p:cNvSpPr>
            <a:spLocks noGrp="1"/>
          </p:cNvSpPr>
          <p:nvPr>
            <p:ph type="title"/>
          </p:nvPr>
        </p:nvSpPr>
        <p:spPr/>
        <p:txBody>
          <a:bodyPr/>
          <a:lstStyle/>
          <a:p>
            <a:r>
              <a:rPr lang="en-GB"/>
              <a:t>AUDIT SUMMARY </a:t>
            </a:r>
          </a:p>
        </p:txBody>
      </p:sp>
      <p:sp>
        <p:nvSpPr>
          <p:cNvPr id="6" name="Content Placeholder 5">
            <a:extLst>
              <a:ext uri="{FF2B5EF4-FFF2-40B4-BE49-F238E27FC236}">
                <a16:creationId xmlns:a16="http://schemas.microsoft.com/office/drawing/2014/main" id="{1C250E4E-E2DD-4041-8391-062D770671D1}"/>
              </a:ext>
            </a:extLst>
          </p:cNvPr>
          <p:cNvSpPr>
            <a:spLocks noGrp="1"/>
          </p:cNvSpPr>
          <p:nvPr>
            <p:ph idx="1"/>
          </p:nvPr>
        </p:nvSpPr>
        <p:spPr/>
        <p:txBody>
          <a:bodyPr/>
          <a:lstStyle/>
          <a:p>
            <a:r>
              <a:rPr lang="en-GB" dirty="0"/>
              <a:t>Comments and findings </a:t>
            </a:r>
          </a:p>
          <a:p>
            <a:r>
              <a:rPr lang="en-GB" dirty="0"/>
              <a:t>Strengths</a:t>
            </a:r>
          </a:p>
          <a:p>
            <a:r>
              <a:rPr lang="en-GB" dirty="0"/>
              <a:t>Weaknesses </a:t>
            </a:r>
          </a:p>
          <a:p>
            <a:r>
              <a:rPr lang="en-GB" dirty="0"/>
              <a:t>Proposed action plan </a:t>
            </a:r>
          </a:p>
          <a:p>
            <a:r>
              <a:rPr lang="en-GB" dirty="0"/>
              <a:t>Re-audit date</a:t>
            </a:r>
          </a:p>
        </p:txBody>
      </p:sp>
    </p:spTree>
    <p:extLst>
      <p:ext uri="{BB962C8B-B14F-4D97-AF65-F5344CB8AC3E}">
        <p14:creationId xmlns:p14="http://schemas.microsoft.com/office/powerpoint/2010/main" val="3425787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AA98C-CCB9-4D07-B079-05B460CA355D}"/>
              </a:ext>
            </a:extLst>
          </p:cNvPr>
          <p:cNvSpPr>
            <a:spLocks noGrp="1"/>
          </p:cNvSpPr>
          <p:nvPr>
            <p:ph type="title"/>
          </p:nvPr>
        </p:nvSpPr>
        <p:spPr/>
        <p:txBody>
          <a:bodyPr/>
          <a:lstStyle/>
          <a:p>
            <a:r>
              <a:rPr lang="en-GB"/>
              <a:t>Closed Templates </a:t>
            </a:r>
          </a:p>
        </p:txBody>
      </p:sp>
      <p:sp>
        <p:nvSpPr>
          <p:cNvPr id="6" name="Content Placeholder 5">
            <a:extLst>
              <a:ext uri="{FF2B5EF4-FFF2-40B4-BE49-F238E27FC236}">
                <a16:creationId xmlns:a16="http://schemas.microsoft.com/office/drawing/2014/main" id="{503103F4-4B82-4994-B984-BD18A36487F2}"/>
              </a:ext>
            </a:extLst>
          </p:cNvPr>
          <p:cNvSpPr>
            <a:spLocks noGrp="1"/>
          </p:cNvSpPr>
          <p:nvPr>
            <p:ph idx="1"/>
          </p:nvPr>
        </p:nvSpPr>
        <p:spPr/>
        <p:txBody>
          <a:bodyPr>
            <a:normAutofit lnSpcReduction="10000"/>
          </a:bodyPr>
          <a:lstStyle/>
          <a:p>
            <a:r>
              <a:rPr lang="en-GB" dirty="0"/>
              <a:t>In order to save time, most dentists create their own individual closed templates. These are essentially cut and pasted into the patient notes and amended accordingly. Some use these for several appointments, some use them for one or two appointments. These closed templates do indeed save the dentist time but they create a limitation in the information that is saved. Also, we have to remember that several dentists have been penalised for using templates that have been incorrectly edited, resulting in additional investigations.</a:t>
            </a:r>
          </a:p>
          <a:p>
            <a:r>
              <a:rPr lang="en-GB" dirty="0"/>
              <a:t>Also, we cannot forget the power of the audit, because it is advised by several dental organisations that if an audit of ten to fifteen notes is carried out and each note is exactly the same, the trust of the dentist comes into play and other unwanted issues may develop. </a:t>
            </a:r>
          </a:p>
        </p:txBody>
      </p:sp>
    </p:spTree>
    <p:extLst>
      <p:ext uri="{BB962C8B-B14F-4D97-AF65-F5344CB8AC3E}">
        <p14:creationId xmlns:p14="http://schemas.microsoft.com/office/powerpoint/2010/main" val="18679859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B40AE-5F14-4F28-8161-D2F8E1E5E416}"/>
              </a:ext>
            </a:extLst>
          </p:cNvPr>
          <p:cNvSpPr>
            <a:spLocks noGrp="1"/>
          </p:cNvSpPr>
          <p:nvPr>
            <p:ph type="title"/>
          </p:nvPr>
        </p:nvSpPr>
        <p:spPr/>
        <p:txBody>
          <a:bodyPr/>
          <a:lstStyle/>
          <a:p>
            <a:r>
              <a:rPr lang="en-GB"/>
              <a:t>Trust</a:t>
            </a:r>
          </a:p>
        </p:txBody>
      </p:sp>
      <p:sp>
        <p:nvSpPr>
          <p:cNvPr id="6" name="Content Placeholder 5">
            <a:extLst>
              <a:ext uri="{FF2B5EF4-FFF2-40B4-BE49-F238E27FC236}">
                <a16:creationId xmlns:a16="http://schemas.microsoft.com/office/drawing/2014/main" id="{A26F6C72-125B-4FE9-B974-8E0046943FEF}"/>
              </a:ext>
            </a:extLst>
          </p:cNvPr>
          <p:cNvSpPr>
            <a:spLocks noGrp="1"/>
          </p:cNvSpPr>
          <p:nvPr>
            <p:ph idx="1"/>
          </p:nvPr>
        </p:nvSpPr>
        <p:spPr/>
        <p:txBody>
          <a:bodyPr/>
          <a:lstStyle/>
          <a:p>
            <a:r>
              <a:rPr lang="en-GB" dirty="0"/>
              <a:t>Quoting from Len </a:t>
            </a:r>
            <a:r>
              <a:rPr lang="en-GB" dirty="0" err="1"/>
              <a:t>D’Cruz</a:t>
            </a:r>
            <a:r>
              <a:rPr lang="en-GB" dirty="0"/>
              <a:t> “when the trustworthiness of the record is in doubt, any defence is compromised if the interpretation is that there is an intention to mislead.”</a:t>
            </a:r>
          </a:p>
          <a:p>
            <a:r>
              <a:rPr lang="en-GB" dirty="0"/>
              <a:t>This brings connotations of dishonesty and potential associated professional ramifications</a:t>
            </a:r>
          </a:p>
        </p:txBody>
      </p:sp>
    </p:spTree>
    <p:extLst>
      <p:ext uri="{BB962C8B-B14F-4D97-AF65-F5344CB8AC3E}">
        <p14:creationId xmlns:p14="http://schemas.microsoft.com/office/powerpoint/2010/main" val="3005380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D34C5-A596-486D-9010-219AD0388C2A}"/>
              </a:ext>
            </a:extLst>
          </p:cNvPr>
          <p:cNvSpPr>
            <a:spLocks noGrp="1"/>
          </p:cNvSpPr>
          <p:nvPr>
            <p:ph type="title"/>
          </p:nvPr>
        </p:nvSpPr>
        <p:spPr/>
        <p:txBody>
          <a:bodyPr/>
          <a:lstStyle/>
          <a:p>
            <a:r>
              <a:rPr lang="en-GB"/>
              <a:t>Other problems</a:t>
            </a:r>
          </a:p>
        </p:txBody>
      </p:sp>
      <p:sp>
        <p:nvSpPr>
          <p:cNvPr id="6" name="Content Placeholder 5">
            <a:extLst>
              <a:ext uri="{FF2B5EF4-FFF2-40B4-BE49-F238E27FC236}">
                <a16:creationId xmlns:a16="http://schemas.microsoft.com/office/drawing/2014/main" id="{2814C1DE-95D8-4389-8076-F20B2F9E5F6F}"/>
              </a:ext>
            </a:extLst>
          </p:cNvPr>
          <p:cNvSpPr>
            <a:spLocks noGrp="1"/>
          </p:cNvSpPr>
          <p:nvPr>
            <p:ph idx="1"/>
          </p:nvPr>
        </p:nvSpPr>
        <p:spPr/>
        <p:txBody>
          <a:bodyPr/>
          <a:lstStyle/>
          <a:p>
            <a:r>
              <a:rPr lang="en-GB" dirty="0"/>
              <a:t>Other problems related to the use of templates pasted into the practice management system are seen below</a:t>
            </a:r>
          </a:p>
          <a:p>
            <a:pPr lvl="0"/>
            <a:r>
              <a:rPr lang="en-GB" dirty="0"/>
              <a:t>Incomplete entries and editing of templates</a:t>
            </a:r>
          </a:p>
          <a:p>
            <a:pPr lvl="0"/>
            <a:r>
              <a:rPr lang="en-GB" dirty="0"/>
              <a:t>Incorrect input leading to an inappropriate intervention</a:t>
            </a:r>
          </a:p>
          <a:p>
            <a:pPr lvl="0"/>
            <a:r>
              <a:rPr lang="en-GB" dirty="0"/>
              <a:t>Notes being too long and potentially bypassing key facts</a:t>
            </a:r>
          </a:p>
        </p:txBody>
      </p:sp>
    </p:spTree>
    <p:extLst>
      <p:ext uri="{BB962C8B-B14F-4D97-AF65-F5344CB8AC3E}">
        <p14:creationId xmlns:p14="http://schemas.microsoft.com/office/powerpoint/2010/main" val="14572042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F0E41-98E6-463F-8A49-715EBCE26C39}"/>
              </a:ext>
            </a:extLst>
          </p:cNvPr>
          <p:cNvSpPr>
            <a:spLocks noGrp="1"/>
          </p:cNvSpPr>
          <p:nvPr>
            <p:ph type="title"/>
          </p:nvPr>
        </p:nvSpPr>
        <p:spPr/>
        <p:txBody>
          <a:bodyPr/>
          <a:lstStyle/>
          <a:p>
            <a:r>
              <a:rPr lang="en-GB"/>
              <a:t>Hot tips </a:t>
            </a:r>
          </a:p>
        </p:txBody>
      </p:sp>
      <p:sp>
        <p:nvSpPr>
          <p:cNvPr id="6" name="Content Placeholder 5">
            <a:extLst>
              <a:ext uri="{FF2B5EF4-FFF2-40B4-BE49-F238E27FC236}">
                <a16:creationId xmlns:a16="http://schemas.microsoft.com/office/drawing/2014/main" id="{634F4AD2-13B1-4D10-98C6-6B66479F604F}"/>
              </a:ext>
            </a:extLst>
          </p:cNvPr>
          <p:cNvSpPr>
            <a:spLocks noGrp="1"/>
          </p:cNvSpPr>
          <p:nvPr>
            <p:ph idx="1"/>
          </p:nvPr>
        </p:nvSpPr>
        <p:spPr/>
        <p:txBody>
          <a:bodyPr/>
          <a:lstStyle/>
          <a:p>
            <a:r>
              <a:rPr lang="en-GB" dirty="0"/>
              <a:t>Writing of pros and cons</a:t>
            </a:r>
          </a:p>
          <a:p>
            <a:r>
              <a:rPr lang="en-GB" dirty="0"/>
              <a:t>This is always a contentious issue as it is a general phrase that could potentially cover a vast amount of the examination appointment. Best practice would be for the dentist to write down the exact advantages and disadvantages discussed during the appointment; remember the more information the better.</a:t>
            </a:r>
          </a:p>
          <a:p>
            <a:pPr marL="0" indent="0">
              <a:buNone/>
            </a:pPr>
            <a:endParaRPr lang="en-GB" dirty="0"/>
          </a:p>
        </p:txBody>
      </p:sp>
    </p:spTree>
    <p:extLst>
      <p:ext uri="{BB962C8B-B14F-4D97-AF65-F5344CB8AC3E}">
        <p14:creationId xmlns:p14="http://schemas.microsoft.com/office/powerpoint/2010/main" val="24805948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30DB0-CF0A-4470-B038-3F411E6248DD}"/>
              </a:ext>
            </a:extLst>
          </p:cNvPr>
          <p:cNvSpPr>
            <a:spLocks noGrp="1"/>
          </p:cNvSpPr>
          <p:nvPr>
            <p:ph type="title"/>
          </p:nvPr>
        </p:nvSpPr>
        <p:spPr/>
        <p:txBody>
          <a:bodyPr/>
          <a:lstStyle/>
          <a:p>
            <a:r>
              <a:rPr lang="en-GB"/>
              <a:t>Writing of quotes </a:t>
            </a:r>
          </a:p>
        </p:txBody>
      </p:sp>
      <p:sp>
        <p:nvSpPr>
          <p:cNvPr id="6" name="Content Placeholder 5">
            <a:extLst>
              <a:ext uri="{FF2B5EF4-FFF2-40B4-BE49-F238E27FC236}">
                <a16:creationId xmlns:a16="http://schemas.microsoft.com/office/drawing/2014/main" id="{351122C1-9061-41A1-8652-13E1E4BAEF48}"/>
              </a:ext>
            </a:extLst>
          </p:cNvPr>
          <p:cNvSpPr>
            <a:spLocks noGrp="1"/>
          </p:cNvSpPr>
          <p:nvPr>
            <p:ph idx="1"/>
          </p:nvPr>
        </p:nvSpPr>
        <p:spPr/>
        <p:txBody>
          <a:bodyPr/>
          <a:lstStyle/>
          <a:p>
            <a:r>
              <a:rPr lang="en-GB" dirty="0"/>
              <a:t>A very simple way of improving the accuracy of our notes would be to include actual quotes said from the patients themselves. Include speech marks where ever appropriate and if the dentist can add their quotes also a much more accurate set of notes can be achieved </a:t>
            </a:r>
          </a:p>
          <a:p>
            <a:r>
              <a:rPr lang="en-GB" dirty="0"/>
              <a:t>Dental record keeping is a quandary, and what I mean by that is that it plays such important role in our dental careers but relatively speaking there are very few books on the subject. It must also be noted that there are no professional record keeping associations for us to gain additional guidance. </a:t>
            </a:r>
          </a:p>
        </p:txBody>
      </p:sp>
    </p:spTree>
    <p:extLst>
      <p:ext uri="{BB962C8B-B14F-4D97-AF65-F5344CB8AC3E}">
        <p14:creationId xmlns:p14="http://schemas.microsoft.com/office/powerpoint/2010/main" val="8973349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151CB-23BC-46D1-8C6C-5334D2A0E92D}"/>
              </a:ext>
            </a:extLst>
          </p:cNvPr>
          <p:cNvSpPr>
            <a:spLocks noGrp="1"/>
          </p:cNvSpPr>
          <p:nvPr>
            <p:ph type="title"/>
          </p:nvPr>
        </p:nvSpPr>
        <p:spPr/>
        <p:txBody>
          <a:bodyPr/>
          <a:lstStyle/>
          <a:p>
            <a:r>
              <a:rPr lang="en-GB"/>
              <a:t>Three-stage process</a:t>
            </a:r>
          </a:p>
        </p:txBody>
      </p:sp>
      <p:sp>
        <p:nvSpPr>
          <p:cNvPr id="6" name="Content Placeholder 5">
            <a:extLst>
              <a:ext uri="{FF2B5EF4-FFF2-40B4-BE49-F238E27FC236}">
                <a16:creationId xmlns:a16="http://schemas.microsoft.com/office/drawing/2014/main" id="{C38FB1BD-ED58-4D98-9C0A-BDEEB422838D}"/>
              </a:ext>
            </a:extLst>
          </p:cNvPr>
          <p:cNvSpPr>
            <a:spLocks noGrp="1"/>
          </p:cNvSpPr>
          <p:nvPr>
            <p:ph idx="1"/>
          </p:nvPr>
        </p:nvSpPr>
        <p:spPr/>
        <p:txBody>
          <a:bodyPr/>
          <a:lstStyle/>
          <a:p>
            <a:r>
              <a:rPr lang="en-GB" dirty="0"/>
              <a:t>Planning for success in record keeping </a:t>
            </a:r>
          </a:p>
          <a:p>
            <a:r>
              <a:rPr lang="en-GB" dirty="0"/>
              <a:t>Three stage process</a:t>
            </a:r>
          </a:p>
          <a:p>
            <a:r>
              <a:rPr lang="en-GB" dirty="0"/>
              <a:t>PLAN: For this planning we need to ask ourselves a series of three specific questions. </a:t>
            </a:r>
          </a:p>
        </p:txBody>
      </p:sp>
    </p:spTree>
    <p:extLst>
      <p:ext uri="{BB962C8B-B14F-4D97-AF65-F5344CB8AC3E}">
        <p14:creationId xmlns:p14="http://schemas.microsoft.com/office/powerpoint/2010/main" val="22132336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3B024-9439-4BB7-B09C-48258BAA0381}"/>
              </a:ext>
            </a:extLst>
          </p:cNvPr>
          <p:cNvSpPr>
            <a:spLocks noGrp="1"/>
          </p:cNvSpPr>
          <p:nvPr>
            <p:ph type="title"/>
          </p:nvPr>
        </p:nvSpPr>
        <p:spPr/>
        <p:txBody>
          <a:bodyPr/>
          <a:lstStyle/>
          <a:p>
            <a:r>
              <a:rPr lang="en-GB"/>
              <a:t>Question 1</a:t>
            </a:r>
          </a:p>
        </p:txBody>
      </p:sp>
      <p:sp>
        <p:nvSpPr>
          <p:cNvPr id="6" name="Content Placeholder 5">
            <a:extLst>
              <a:ext uri="{FF2B5EF4-FFF2-40B4-BE49-F238E27FC236}">
                <a16:creationId xmlns:a16="http://schemas.microsoft.com/office/drawing/2014/main" id="{E4B29CEB-51D5-4A44-A01F-4B6D036440C1}"/>
              </a:ext>
            </a:extLst>
          </p:cNvPr>
          <p:cNvSpPr>
            <a:spLocks noGrp="1"/>
          </p:cNvSpPr>
          <p:nvPr>
            <p:ph idx="1"/>
          </p:nvPr>
        </p:nvSpPr>
        <p:spPr/>
        <p:txBody>
          <a:bodyPr/>
          <a:lstStyle/>
          <a:p>
            <a:r>
              <a:rPr lang="en-GB" dirty="0"/>
              <a:t>Question 1 focuses upon the user. It relates to standards and asks what standard and quality of records do you want to produce? </a:t>
            </a:r>
          </a:p>
        </p:txBody>
      </p:sp>
    </p:spTree>
    <p:extLst>
      <p:ext uri="{BB962C8B-B14F-4D97-AF65-F5344CB8AC3E}">
        <p14:creationId xmlns:p14="http://schemas.microsoft.com/office/powerpoint/2010/main" val="22907771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3A523-52E5-4907-BFE9-462EBB1A5277}"/>
              </a:ext>
            </a:extLst>
          </p:cNvPr>
          <p:cNvSpPr>
            <a:spLocks noGrp="1"/>
          </p:cNvSpPr>
          <p:nvPr>
            <p:ph type="title"/>
          </p:nvPr>
        </p:nvSpPr>
        <p:spPr/>
        <p:txBody>
          <a:bodyPr/>
          <a:lstStyle/>
          <a:p>
            <a:r>
              <a:rPr lang="en-GB"/>
              <a:t>Question 2</a:t>
            </a:r>
          </a:p>
        </p:txBody>
      </p:sp>
      <p:sp>
        <p:nvSpPr>
          <p:cNvPr id="6" name="Content Placeholder 5">
            <a:extLst>
              <a:ext uri="{FF2B5EF4-FFF2-40B4-BE49-F238E27FC236}">
                <a16:creationId xmlns:a16="http://schemas.microsoft.com/office/drawing/2014/main" id="{D0DFCB6A-0919-4294-A9FB-0AC36EED0E27}"/>
              </a:ext>
            </a:extLst>
          </p:cNvPr>
          <p:cNvSpPr>
            <a:spLocks noGrp="1"/>
          </p:cNvSpPr>
          <p:nvPr>
            <p:ph idx="1"/>
          </p:nvPr>
        </p:nvSpPr>
        <p:spPr/>
        <p:txBody>
          <a:bodyPr>
            <a:normAutofit fontScale="77500" lnSpcReduction="20000"/>
          </a:bodyPr>
          <a:lstStyle/>
          <a:p>
            <a:pPr marL="0" indent="0">
              <a:buNone/>
            </a:pPr>
            <a:r>
              <a:rPr lang="en-GB" dirty="0"/>
              <a:t>Question 2: what do I need to do to get the result I want? It’s all about you. </a:t>
            </a:r>
          </a:p>
          <a:p>
            <a:pPr marL="0" indent="0">
              <a:buNone/>
            </a:pPr>
            <a:r>
              <a:rPr lang="en-GB" dirty="0"/>
              <a:t>Remember the slides on page 7.</a:t>
            </a:r>
          </a:p>
          <a:p>
            <a:pPr lvl="0"/>
            <a:r>
              <a:rPr lang="en-GB" dirty="0"/>
              <a:t>Lack of time</a:t>
            </a:r>
          </a:p>
          <a:p>
            <a:pPr lvl="0"/>
            <a:r>
              <a:rPr lang="en-GB" dirty="0"/>
              <a:t>Lack of knowledge </a:t>
            </a:r>
          </a:p>
          <a:p>
            <a:pPr lvl="0"/>
            <a:r>
              <a:rPr lang="en-GB" dirty="0"/>
              <a:t>Bad habits</a:t>
            </a:r>
          </a:p>
          <a:p>
            <a:pPr lvl="0"/>
            <a:r>
              <a:rPr lang="en-GB" dirty="0"/>
              <a:t>Stress</a:t>
            </a:r>
          </a:p>
          <a:p>
            <a:pPr lvl="0"/>
            <a:r>
              <a:rPr lang="en-GB" dirty="0"/>
              <a:t>Task overload</a:t>
            </a:r>
          </a:p>
          <a:p>
            <a:pPr lvl="0"/>
            <a:r>
              <a:rPr lang="en-GB" dirty="0"/>
              <a:t>Illness</a:t>
            </a:r>
          </a:p>
          <a:p>
            <a:pPr lvl="0"/>
            <a:r>
              <a:rPr lang="en-GB" dirty="0"/>
              <a:t>Poor concentration </a:t>
            </a:r>
          </a:p>
          <a:p>
            <a:pPr lvl="0"/>
            <a:r>
              <a:rPr lang="en-GB" dirty="0"/>
              <a:t>Poor computer system</a:t>
            </a:r>
          </a:p>
          <a:p>
            <a:pPr marL="0" indent="0">
              <a:buNone/>
            </a:pPr>
            <a:r>
              <a:rPr lang="en-GB" dirty="0"/>
              <a:t>There are many factors that could work to cause a dentist to produce sub optimal patient records. So asking the right question of yourself and your performance at the outset is key. </a:t>
            </a:r>
          </a:p>
        </p:txBody>
      </p:sp>
    </p:spTree>
    <p:extLst>
      <p:ext uri="{BB962C8B-B14F-4D97-AF65-F5344CB8AC3E}">
        <p14:creationId xmlns:p14="http://schemas.microsoft.com/office/powerpoint/2010/main" val="14778100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F7345-1F8D-4EEF-96FD-E4BA9E7B4B04}"/>
              </a:ext>
            </a:extLst>
          </p:cNvPr>
          <p:cNvSpPr>
            <a:spLocks noGrp="1"/>
          </p:cNvSpPr>
          <p:nvPr>
            <p:ph type="title"/>
          </p:nvPr>
        </p:nvSpPr>
        <p:spPr/>
        <p:txBody>
          <a:bodyPr/>
          <a:lstStyle/>
          <a:p>
            <a:r>
              <a:rPr lang="en-GB"/>
              <a:t>Stress response curve</a:t>
            </a:r>
          </a:p>
        </p:txBody>
      </p:sp>
      <p:sp>
        <p:nvSpPr>
          <p:cNvPr id="6" name="Content Placeholder 5">
            <a:extLst>
              <a:ext uri="{FF2B5EF4-FFF2-40B4-BE49-F238E27FC236}">
                <a16:creationId xmlns:a16="http://schemas.microsoft.com/office/drawing/2014/main" id="{12E2901F-7A4A-4C03-B87B-3E08D08B1828}"/>
              </a:ext>
            </a:extLst>
          </p:cNvPr>
          <p:cNvSpPr>
            <a:spLocks noGrp="1"/>
          </p:cNvSpPr>
          <p:nvPr>
            <p:ph idx="1"/>
          </p:nvPr>
        </p:nvSpPr>
        <p:spPr/>
        <p:txBody>
          <a:bodyPr/>
          <a:lstStyle/>
          <a:p>
            <a:r>
              <a:rPr lang="en-GB" dirty="0"/>
              <a:t>Remember when working in a busy practice stress at times can be high. Please view the STRESS RESPONSE CURVE </a:t>
            </a:r>
          </a:p>
          <a:p>
            <a:r>
              <a:rPr lang="en-GB" dirty="0"/>
              <a:t>View what happens. Initially an increase in stress results in an increase in performance but as one moves past the comfort zone (the range of stress levels that we can absolutely manage), one begins to feel over whelmed and overloaded &lt;one of the factors seen in our list&gt;. Fatigue is then reached and it is here where we see the standard of performance begin to decline.</a:t>
            </a:r>
          </a:p>
        </p:txBody>
      </p:sp>
    </p:spTree>
    <p:extLst>
      <p:ext uri="{BB962C8B-B14F-4D97-AF65-F5344CB8AC3E}">
        <p14:creationId xmlns:p14="http://schemas.microsoft.com/office/powerpoint/2010/main" val="6796742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F6E48-F1A4-4CB7-BF15-9C31CA73F833}"/>
              </a:ext>
            </a:extLst>
          </p:cNvPr>
          <p:cNvSpPr>
            <a:spLocks noGrp="1"/>
          </p:cNvSpPr>
          <p:nvPr>
            <p:ph type="title"/>
          </p:nvPr>
        </p:nvSpPr>
        <p:spPr/>
        <p:txBody>
          <a:bodyPr/>
          <a:lstStyle/>
          <a:p>
            <a:r>
              <a:rPr lang="en-GB"/>
              <a:t>Question 3:</a:t>
            </a:r>
          </a:p>
        </p:txBody>
      </p:sp>
      <p:sp>
        <p:nvSpPr>
          <p:cNvPr id="6" name="Content Placeholder 5">
            <a:extLst>
              <a:ext uri="{FF2B5EF4-FFF2-40B4-BE49-F238E27FC236}">
                <a16:creationId xmlns:a16="http://schemas.microsoft.com/office/drawing/2014/main" id="{D4C396F4-537A-4843-BE98-9C3AB8282879}"/>
              </a:ext>
            </a:extLst>
          </p:cNvPr>
          <p:cNvSpPr>
            <a:spLocks noGrp="1"/>
          </p:cNvSpPr>
          <p:nvPr>
            <p:ph idx="1"/>
          </p:nvPr>
        </p:nvSpPr>
        <p:spPr/>
        <p:txBody>
          <a:bodyPr/>
          <a:lstStyle/>
          <a:p>
            <a:r>
              <a:rPr lang="en-GB" dirty="0"/>
              <a:t>How long do you ideally want to spend writing each record? </a:t>
            </a:r>
          </a:p>
          <a:p>
            <a:r>
              <a:rPr lang="en-GB" dirty="0"/>
              <a:t>Now these are the three main questions to ask and gain clarification. There is one additional question one can ask and it looks at what tools do you have to help your in this process?</a:t>
            </a:r>
          </a:p>
          <a:p>
            <a:r>
              <a:rPr lang="en-GB" dirty="0"/>
              <a:t>STRATEGY: there are many ways to skin a cat so choose a strategy that will allow for success today. A vast majority write notes based on an old system, a system that they were taught at University. The question is this, does that time at Uni match the current trends seen now. If so fantastic and if you are achieving the outcomes you want - stick to what you are doing. If not change to match the new trends.</a:t>
            </a:r>
          </a:p>
        </p:txBody>
      </p:sp>
    </p:spTree>
    <p:extLst>
      <p:ext uri="{BB962C8B-B14F-4D97-AF65-F5344CB8AC3E}">
        <p14:creationId xmlns:p14="http://schemas.microsoft.com/office/powerpoint/2010/main" val="33982642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3D008-508C-414C-8EEE-1BD0A4C9F34C}"/>
              </a:ext>
            </a:extLst>
          </p:cNvPr>
          <p:cNvSpPr>
            <a:spLocks noGrp="1"/>
          </p:cNvSpPr>
          <p:nvPr>
            <p:ph type="title"/>
          </p:nvPr>
        </p:nvSpPr>
        <p:spPr/>
        <p:txBody>
          <a:bodyPr/>
          <a:lstStyle/>
          <a:p>
            <a:r>
              <a:rPr lang="en-GB"/>
              <a:t>Einstein</a:t>
            </a:r>
          </a:p>
        </p:txBody>
      </p:sp>
      <p:sp>
        <p:nvSpPr>
          <p:cNvPr id="6" name="Content Placeholder 5">
            <a:extLst>
              <a:ext uri="{FF2B5EF4-FFF2-40B4-BE49-F238E27FC236}">
                <a16:creationId xmlns:a16="http://schemas.microsoft.com/office/drawing/2014/main" id="{B1D5A177-5243-4E79-869F-DC25CF2D93B0}"/>
              </a:ext>
            </a:extLst>
          </p:cNvPr>
          <p:cNvSpPr>
            <a:spLocks noGrp="1"/>
          </p:cNvSpPr>
          <p:nvPr>
            <p:ph idx="1"/>
          </p:nvPr>
        </p:nvSpPr>
        <p:spPr/>
        <p:txBody>
          <a:bodyPr/>
          <a:lstStyle/>
          <a:p>
            <a:r>
              <a:rPr lang="en-GB" dirty="0"/>
              <a:t>ALBERT EINSTEIN QUOTE: Insanity is doing the same thing over and over again and expecting a different result.</a:t>
            </a:r>
          </a:p>
        </p:txBody>
      </p:sp>
    </p:spTree>
    <p:extLst>
      <p:ext uri="{BB962C8B-B14F-4D97-AF65-F5344CB8AC3E}">
        <p14:creationId xmlns:p14="http://schemas.microsoft.com/office/powerpoint/2010/main" val="40195260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AC629-CD11-439C-B8BF-29C86A0E2115}"/>
              </a:ext>
            </a:extLst>
          </p:cNvPr>
          <p:cNvSpPr>
            <a:spLocks noGrp="1"/>
          </p:cNvSpPr>
          <p:nvPr>
            <p:ph type="title"/>
          </p:nvPr>
        </p:nvSpPr>
        <p:spPr/>
        <p:txBody>
          <a:bodyPr/>
          <a:lstStyle/>
          <a:p>
            <a:r>
              <a:rPr lang="en-GB" dirty="0"/>
              <a:t>Action</a:t>
            </a:r>
          </a:p>
        </p:txBody>
      </p:sp>
      <p:sp>
        <p:nvSpPr>
          <p:cNvPr id="6" name="Content Placeholder 5">
            <a:extLst>
              <a:ext uri="{FF2B5EF4-FFF2-40B4-BE49-F238E27FC236}">
                <a16:creationId xmlns:a16="http://schemas.microsoft.com/office/drawing/2014/main" id="{DCC1B076-EE9A-4328-B9CE-2333BDFA8B63}"/>
              </a:ext>
            </a:extLst>
          </p:cNvPr>
          <p:cNvSpPr>
            <a:spLocks noGrp="1"/>
          </p:cNvSpPr>
          <p:nvPr>
            <p:ph idx="1"/>
          </p:nvPr>
        </p:nvSpPr>
        <p:spPr/>
        <p:txBody>
          <a:bodyPr/>
          <a:lstStyle/>
          <a:p>
            <a:r>
              <a:rPr lang="en-GB" dirty="0"/>
              <a:t>ACTION: Execution is key. </a:t>
            </a:r>
          </a:p>
          <a:p>
            <a:r>
              <a:rPr lang="en-GB" dirty="0"/>
              <a:t>Continuously add value and improvement to the task. </a:t>
            </a:r>
          </a:p>
          <a:p>
            <a:r>
              <a:rPr lang="en-GB" dirty="0"/>
              <a:t>Record keeping is an increasingly taxing exercise. Within a short 15 minutes time period it is almost impossible to document everything. So I put it to you, either consider</a:t>
            </a:r>
          </a:p>
        </p:txBody>
      </p:sp>
    </p:spTree>
    <p:extLst>
      <p:ext uri="{BB962C8B-B14F-4D97-AF65-F5344CB8AC3E}">
        <p14:creationId xmlns:p14="http://schemas.microsoft.com/office/powerpoint/2010/main" val="27653532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4D3F4-8E20-4051-802C-A2EE24F0E7FD}"/>
              </a:ext>
            </a:extLst>
          </p:cNvPr>
          <p:cNvSpPr>
            <a:spLocks noGrp="1"/>
          </p:cNvSpPr>
          <p:nvPr>
            <p:ph type="title"/>
          </p:nvPr>
        </p:nvSpPr>
        <p:spPr/>
        <p:txBody>
          <a:bodyPr/>
          <a:lstStyle/>
          <a:p>
            <a:r>
              <a:rPr lang="en-GB"/>
              <a:t>PAGE</a:t>
            </a:r>
          </a:p>
        </p:txBody>
      </p:sp>
      <p:sp>
        <p:nvSpPr>
          <p:cNvPr id="6" name="Content Placeholder 5">
            <a:extLst>
              <a:ext uri="{FF2B5EF4-FFF2-40B4-BE49-F238E27FC236}">
                <a16:creationId xmlns:a16="http://schemas.microsoft.com/office/drawing/2014/main" id="{FF269DD6-A497-409C-A02F-8D9D1F67BA8C}"/>
              </a:ext>
            </a:extLst>
          </p:cNvPr>
          <p:cNvSpPr>
            <a:spLocks noGrp="1"/>
          </p:cNvSpPr>
          <p:nvPr>
            <p:ph idx="1"/>
          </p:nvPr>
        </p:nvSpPr>
        <p:spPr/>
        <p:txBody>
          <a:bodyPr/>
          <a:lstStyle/>
          <a:p>
            <a:r>
              <a:rPr lang="en-GB" dirty="0"/>
              <a:t>Extending your appointment times so as to create a level playing field for further documentation </a:t>
            </a:r>
          </a:p>
          <a:p>
            <a:r>
              <a:rPr lang="en-GB" dirty="0"/>
              <a:t>Or</a:t>
            </a:r>
          </a:p>
          <a:p>
            <a:r>
              <a:rPr lang="en-GB" dirty="0"/>
              <a:t>Allowing your nurses to help lighten the load by writing some notes and you completing the rest.</a:t>
            </a:r>
          </a:p>
        </p:txBody>
      </p:sp>
    </p:spTree>
    <p:extLst>
      <p:ext uri="{BB962C8B-B14F-4D97-AF65-F5344CB8AC3E}">
        <p14:creationId xmlns:p14="http://schemas.microsoft.com/office/powerpoint/2010/main" val="14117880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A357E-5609-4679-89E8-050A2D00BCF7}"/>
              </a:ext>
            </a:extLst>
          </p:cNvPr>
          <p:cNvSpPr>
            <a:spLocks noGrp="1"/>
          </p:cNvSpPr>
          <p:nvPr>
            <p:ph type="title"/>
          </p:nvPr>
        </p:nvSpPr>
        <p:spPr/>
        <p:txBody>
          <a:bodyPr/>
          <a:lstStyle/>
          <a:p>
            <a:r>
              <a:rPr lang="en-GB"/>
              <a:t>PAGE</a:t>
            </a:r>
          </a:p>
        </p:txBody>
      </p:sp>
      <p:sp>
        <p:nvSpPr>
          <p:cNvPr id="6" name="Content Placeholder 5">
            <a:extLst>
              <a:ext uri="{FF2B5EF4-FFF2-40B4-BE49-F238E27FC236}">
                <a16:creationId xmlns:a16="http://schemas.microsoft.com/office/drawing/2014/main" id="{5894A46A-4F18-4CD0-9109-84D7E2A2DF27}"/>
              </a:ext>
            </a:extLst>
          </p:cNvPr>
          <p:cNvSpPr>
            <a:spLocks noGrp="1"/>
          </p:cNvSpPr>
          <p:nvPr>
            <p:ph idx="1"/>
          </p:nvPr>
        </p:nvSpPr>
        <p:spPr/>
        <p:txBody>
          <a:bodyPr/>
          <a:lstStyle/>
          <a:p>
            <a:r>
              <a:rPr lang="en-GB" dirty="0"/>
              <a:t>Raj Rattan and Len </a:t>
            </a:r>
            <a:r>
              <a:rPr lang="en-GB" dirty="0" err="1"/>
              <a:t>D’Cruz</a:t>
            </a:r>
            <a:r>
              <a:rPr lang="en-GB" dirty="0"/>
              <a:t> wrote mid last year “a dental nurse, sufficiently trained at distilling the dialogue that takes place between the practitioner and the patient, can record events and discussions in real time.” (BDJ volume 224, No 8 April 2018)</a:t>
            </a:r>
          </a:p>
          <a:p>
            <a:r>
              <a:rPr lang="en-GB" dirty="0"/>
              <a:t>Len quote</a:t>
            </a:r>
            <a:r>
              <a:rPr lang="en-GB" i="1" dirty="0"/>
              <a:t>: “Whichever way you look at things when measuring success of the clinician, the process of inquiry generally starts with the patients</a:t>
            </a:r>
            <a:r>
              <a:rPr lang="en-GB" dirty="0"/>
              <a:t> </a:t>
            </a:r>
            <a:r>
              <a:rPr lang="en-GB" i="1" dirty="0"/>
              <a:t>; or in this case the patient’s records.”</a:t>
            </a:r>
            <a:endParaRPr lang="en-GB" dirty="0"/>
          </a:p>
          <a:p>
            <a:r>
              <a:rPr lang="en-GB" dirty="0"/>
              <a:t>Software comparison</a:t>
            </a:r>
          </a:p>
        </p:txBody>
      </p:sp>
    </p:spTree>
    <p:extLst>
      <p:ext uri="{BB962C8B-B14F-4D97-AF65-F5344CB8AC3E}">
        <p14:creationId xmlns:p14="http://schemas.microsoft.com/office/powerpoint/2010/main" val="40175475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5D6A7-94B9-4CAC-BF6D-EC84CE7AE9E1}"/>
              </a:ext>
            </a:extLst>
          </p:cNvPr>
          <p:cNvSpPr>
            <a:spLocks noGrp="1"/>
          </p:cNvSpPr>
          <p:nvPr>
            <p:ph type="title"/>
          </p:nvPr>
        </p:nvSpPr>
        <p:spPr/>
        <p:txBody>
          <a:bodyPr/>
          <a:lstStyle/>
          <a:p>
            <a:r>
              <a:rPr lang="en-GB"/>
              <a:t>PAGE</a:t>
            </a:r>
          </a:p>
        </p:txBody>
      </p:sp>
      <p:sp>
        <p:nvSpPr>
          <p:cNvPr id="6" name="Content Placeholder 5">
            <a:extLst>
              <a:ext uri="{FF2B5EF4-FFF2-40B4-BE49-F238E27FC236}">
                <a16:creationId xmlns:a16="http://schemas.microsoft.com/office/drawing/2014/main" id="{F637943F-35C2-4B59-A24C-366D2CCA02F7}"/>
              </a:ext>
            </a:extLst>
          </p:cNvPr>
          <p:cNvSpPr>
            <a:spLocks noGrp="1"/>
          </p:cNvSpPr>
          <p:nvPr>
            <p:ph idx="1"/>
          </p:nvPr>
        </p:nvSpPr>
        <p:spPr/>
        <p:txBody>
          <a:bodyPr>
            <a:normAutofit/>
          </a:bodyPr>
          <a:lstStyle/>
          <a:p>
            <a:pPr marL="0" indent="0">
              <a:buNone/>
            </a:pPr>
            <a:endParaRPr lang="en-GB" dirty="0"/>
          </a:p>
        </p:txBody>
      </p:sp>
    </p:spTree>
    <p:extLst>
      <p:ext uri="{BB962C8B-B14F-4D97-AF65-F5344CB8AC3E}">
        <p14:creationId xmlns:p14="http://schemas.microsoft.com/office/powerpoint/2010/main" val="42827822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07FF9-D113-49A8-B08C-228542FFB454}"/>
              </a:ext>
            </a:extLst>
          </p:cNvPr>
          <p:cNvSpPr>
            <a:spLocks noGrp="1"/>
          </p:cNvSpPr>
          <p:nvPr>
            <p:ph type="title"/>
          </p:nvPr>
        </p:nvSpPr>
        <p:spPr/>
        <p:txBody>
          <a:bodyPr/>
          <a:lstStyle/>
          <a:p>
            <a:r>
              <a:rPr lang="en-GB"/>
              <a:t>QUESTIONS AND ANSWERS</a:t>
            </a:r>
          </a:p>
        </p:txBody>
      </p:sp>
      <p:sp>
        <p:nvSpPr>
          <p:cNvPr id="6" name="Content Placeholder 5">
            <a:extLst>
              <a:ext uri="{FF2B5EF4-FFF2-40B4-BE49-F238E27FC236}">
                <a16:creationId xmlns:a16="http://schemas.microsoft.com/office/drawing/2014/main" id="{52CC0E14-C167-4705-972F-EEF77DFC0C31}"/>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4622314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1E160-B332-4B67-8D20-B193DACCFF49}"/>
              </a:ext>
            </a:extLst>
          </p:cNvPr>
          <p:cNvSpPr>
            <a:spLocks noGrp="1"/>
          </p:cNvSpPr>
          <p:nvPr>
            <p:ph type="title"/>
          </p:nvPr>
        </p:nvSpPr>
        <p:spPr/>
        <p:txBody>
          <a:bodyPr/>
          <a:lstStyle/>
          <a:p>
            <a:r>
              <a:rPr lang="en-GB"/>
              <a:t>Reference</a:t>
            </a:r>
          </a:p>
        </p:txBody>
      </p:sp>
      <p:sp>
        <p:nvSpPr>
          <p:cNvPr id="6" name="Content Placeholder 5">
            <a:extLst>
              <a:ext uri="{FF2B5EF4-FFF2-40B4-BE49-F238E27FC236}">
                <a16:creationId xmlns:a16="http://schemas.microsoft.com/office/drawing/2014/main" id="{91EF3A60-A3B5-47C7-A2D9-0532AFF99C12}"/>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1995010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TotalTime>
  <Words>3999</Words>
  <Application>Microsoft Office PowerPoint</Application>
  <PresentationFormat>Widescreen</PresentationFormat>
  <Paragraphs>315</Paragraphs>
  <Slides>55</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55</vt:i4>
      </vt:variant>
    </vt:vector>
  </HeadingPairs>
  <TitlesOfParts>
    <vt:vector size="60" baseType="lpstr">
      <vt:lpstr>Arial</vt:lpstr>
      <vt:lpstr>Calibri</vt:lpstr>
      <vt:lpstr>Calibri Light</vt:lpstr>
      <vt:lpstr>Times New Roman</vt:lpstr>
      <vt:lpstr>Office Theme</vt:lpstr>
      <vt:lpstr>Record keeping</vt:lpstr>
      <vt:lpstr>Welcome</vt:lpstr>
      <vt:lpstr>Introduction</vt:lpstr>
      <vt:lpstr>Learning Summary</vt:lpstr>
      <vt:lpstr>Poll</vt:lpstr>
      <vt:lpstr>Poll</vt:lpstr>
      <vt:lpstr>Unprofessional conduct</vt:lpstr>
      <vt:lpstr>Poll</vt:lpstr>
      <vt:lpstr>Focus</vt:lpstr>
      <vt:lpstr>What are “Dental Records”?</vt:lpstr>
      <vt:lpstr>Poll</vt:lpstr>
      <vt:lpstr>What makes top-notch notes?</vt:lpstr>
      <vt:lpstr>Complaints</vt:lpstr>
      <vt:lpstr>Golden Rules</vt:lpstr>
      <vt:lpstr>Structure</vt:lpstr>
      <vt:lpstr>Adult examination</vt:lpstr>
      <vt:lpstr>Restoration </vt:lpstr>
      <vt:lpstr>Standards</vt:lpstr>
      <vt:lpstr>GDC</vt:lpstr>
      <vt:lpstr>Relevant Standards</vt:lpstr>
      <vt:lpstr>Quote 4.1.1</vt:lpstr>
      <vt:lpstr>4.1.2</vt:lpstr>
      <vt:lpstr>[4.1.3]</vt:lpstr>
      <vt:lpstr>[4.1.4]</vt:lpstr>
      <vt:lpstr>4.1.6</vt:lpstr>
      <vt:lpstr>1.7.2</vt:lpstr>
      <vt:lpstr>[1.7.3]</vt:lpstr>
      <vt:lpstr>[1.7.4]</vt:lpstr>
      <vt:lpstr>3.1.3 </vt:lpstr>
      <vt:lpstr>3.3.1 </vt:lpstr>
      <vt:lpstr>CQC</vt:lpstr>
      <vt:lpstr>NHS - GDS CONTRACT</vt:lpstr>
      <vt:lpstr>Patient records</vt:lpstr>
      <vt:lpstr>Longevity</vt:lpstr>
      <vt:lpstr>Errors</vt:lpstr>
      <vt:lpstr>Audit </vt:lpstr>
      <vt:lpstr>Example</vt:lpstr>
      <vt:lpstr>AUDIT SUMMARY </vt:lpstr>
      <vt:lpstr>Closed Templates </vt:lpstr>
      <vt:lpstr>Trust</vt:lpstr>
      <vt:lpstr>Other problems</vt:lpstr>
      <vt:lpstr>Hot tips </vt:lpstr>
      <vt:lpstr>Writing of quotes </vt:lpstr>
      <vt:lpstr>Three-stage process</vt:lpstr>
      <vt:lpstr>Question 1</vt:lpstr>
      <vt:lpstr>Question 2</vt:lpstr>
      <vt:lpstr>Stress response curve</vt:lpstr>
      <vt:lpstr>Question 3:</vt:lpstr>
      <vt:lpstr>Einstein</vt:lpstr>
      <vt:lpstr>Action</vt:lpstr>
      <vt:lpstr>PAGE</vt:lpstr>
      <vt:lpstr>PAGE</vt:lpstr>
      <vt:lpstr>PAGE</vt:lpstr>
      <vt:lpstr>QUESTIONS AND ANSWERS</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Record keeping</dc:title>
  <dc:creator>Andrew Gould;Gregory Pierre</dc:creator>
  <cp:lastModifiedBy>Andrew Gould</cp:lastModifiedBy>
  <cp:revision>10</cp:revision>
  <dcterms:created xsi:type="dcterms:W3CDTF">2019-03-15T17:18:14Z</dcterms:created>
  <dcterms:modified xsi:type="dcterms:W3CDTF">2019-03-15T18:46:14Z</dcterms:modified>
</cp:coreProperties>
</file>